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1"/>
  </p:sldMasterIdLst>
  <p:sldIdLst>
    <p:sldId id="256" r:id="rId2"/>
    <p:sldId id="290" r:id="rId3"/>
    <p:sldId id="271" r:id="rId4"/>
    <p:sldId id="270" r:id="rId5"/>
    <p:sldId id="272" r:id="rId6"/>
    <p:sldId id="273" r:id="rId7"/>
    <p:sldId id="274" r:id="rId8"/>
    <p:sldId id="291" r:id="rId9"/>
    <p:sldId id="275" r:id="rId10"/>
    <p:sldId id="278" r:id="rId11"/>
    <p:sldId id="280" r:id="rId12"/>
    <p:sldId id="281" r:id="rId13"/>
    <p:sldId id="282" r:id="rId14"/>
    <p:sldId id="283" r:id="rId15"/>
    <p:sldId id="284" r:id="rId16"/>
    <p:sldId id="285" r:id="rId17"/>
    <p:sldId id="286" r:id="rId18"/>
    <p:sldId id="287" r:id="rId19"/>
    <p:sldId id="288" r:id="rId20"/>
    <p:sldId id="28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44C9C5-93AB-38E9-1BD4-F0C0EDC07C09}" v="15" dt="2026-02-19T08:56:53.5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82" d="100"/>
          <a:sy n="82" d="100"/>
        </p:scale>
        <p:origin x="4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F91C87-81D3-40FB-9711-0ED0DAD60D8C}" type="doc">
      <dgm:prSet loTypeId="urn:microsoft.com/office/officeart/2005/8/layout/default" loCatId="list" qsTypeId="urn:microsoft.com/office/officeart/2005/8/quickstyle/simple1" qsCatId="simple" csTypeId="urn:microsoft.com/office/officeart/2005/8/colors/accent0_3" csCatId="mainScheme" phldr="1"/>
      <dgm:spPr/>
      <dgm:t>
        <a:bodyPr/>
        <a:lstStyle/>
        <a:p>
          <a:endParaRPr lang="en-US"/>
        </a:p>
      </dgm:t>
    </dgm:pt>
    <dgm:pt modelId="{98AA4B48-BA02-4506-8BF2-07546187A9BF}">
      <dgm:prSet custT="1"/>
      <dgm:spPr/>
      <dgm:t>
        <a:bodyPr/>
        <a:lstStyle/>
        <a:p>
          <a:pPr rtl="0"/>
          <a:r>
            <a:rPr lang="en-US" sz="2400" b="1" dirty="0">
              <a:latin typeface="Calibri"/>
              <a:ea typeface="Calibri"/>
              <a:cs typeface="Calibri"/>
            </a:rPr>
            <a:t>Total Revenue: ₹71.79M &amp; Revenue Growth (MoM): 42.53%</a:t>
          </a:r>
          <a:endParaRPr lang="en-US" sz="2400" b="0" dirty="0">
            <a:latin typeface="Calibri"/>
            <a:ea typeface="Calibri"/>
            <a:cs typeface="Calibri"/>
          </a:endParaRPr>
        </a:p>
      </dgm:t>
    </dgm:pt>
    <dgm:pt modelId="{C7124CF5-72B0-44C1-A3A2-835FE5C159C8}" type="parTrans" cxnId="{7F2298A7-F5D8-4440-AE85-E5033D93BD2F}">
      <dgm:prSet/>
      <dgm:spPr/>
      <dgm:t>
        <a:bodyPr/>
        <a:lstStyle/>
        <a:p>
          <a:endParaRPr lang="en-US"/>
        </a:p>
      </dgm:t>
    </dgm:pt>
    <dgm:pt modelId="{150FF648-2C9A-451E-89E7-FF785CCBBCF4}" type="sibTrans" cxnId="{7F2298A7-F5D8-4440-AE85-E5033D93BD2F}">
      <dgm:prSet/>
      <dgm:spPr/>
      <dgm:t>
        <a:bodyPr/>
        <a:lstStyle/>
        <a:p>
          <a:endParaRPr lang="en-US"/>
        </a:p>
      </dgm:t>
    </dgm:pt>
    <dgm:pt modelId="{4A173B6D-2F16-4914-9DD4-889E9792BBFD}">
      <dgm:prSet/>
      <dgm:spPr/>
      <dgm:t>
        <a:bodyPr/>
        <a:lstStyle/>
        <a:p>
          <a:r>
            <a:rPr lang="en-US" sz="2000" b="1" dirty="0">
              <a:latin typeface="Calibri"/>
              <a:ea typeface="Calibri"/>
              <a:cs typeface="Calibri"/>
            </a:rPr>
            <a:t>Count of Order: 128,943</a:t>
          </a:r>
          <a:endParaRPr lang="en-US" sz="2000" dirty="0">
            <a:latin typeface="Calibri"/>
            <a:ea typeface="Calibri"/>
            <a:cs typeface="Calibri"/>
          </a:endParaRPr>
        </a:p>
      </dgm:t>
    </dgm:pt>
    <dgm:pt modelId="{D97DFD7F-FC00-4AF1-82EB-FC417B564A6F}" type="parTrans" cxnId="{621BBC93-3BE2-41A3-A0B0-B0D9080BACEC}">
      <dgm:prSet/>
      <dgm:spPr/>
      <dgm:t>
        <a:bodyPr/>
        <a:lstStyle/>
        <a:p>
          <a:endParaRPr lang="en-US"/>
        </a:p>
      </dgm:t>
    </dgm:pt>
    <dgm:pt modelId="{F7CAFC14-E20A-462D-B571-F00DEBD47987}" type="sibTrans" cxnId="{621BBC93-3BE2-41A3-A0B0-B0D9080BACEC}">
      <dgm:prSet/>
      <dgm:spPr/>
      <dgm:t>
        <a:bodyPr/>
        <a:lstStyle/>
        <a:p>
          <a:endParaRPr lang="en-US"/>
        </a:p>
      </dgm:t>
    </dgm:pt>
    <dgm:pt modelId="{FAEA66A5-EAC5-4831-BD6C-A549D7487E7E}">
      <dgm:prSet/>
      <dgm:spPr/>
      <dgm:t>
        <a:bodyPr/>
        <a:lstStyle/>
        <a:p>
          <a:pPr rtl="0"/>
          <a:r>
            <a:rPr lang="en-US" sz="2000" b="1" dirty="0">
              <a:latin typeface="Calibri"/>
              <a:ea typeface="Calibri"/>
              <a:cs typeface="Calibri"/>
            </a:rPr>
            <a:t>On-Time Delivery Rate: 22.31%</a:t>
          </a:r>
          <a:endParaRPr lang="en-US" sz="2000" dirty="0">
            <a:latin typeface="Calibri"/>
            <a:ea typeface="Calibri"/>
            <a:cs typeface="Calibri"/>
          </a:endParaRPr>
        </a:p>
      </dgm:t>
    </dgm:pt>
    <dgm:pt modelId="{CD1FCFAA-6CC9-4EA1-A15A-7D0BE044D5E0}" type="parTrans" cxnId="{39E2BCB9-9178-45E5-9600-1D3EFDEF92F5}">
      <dgm:prSet/>
      <dgm:spPr/>
      <dgm:t>
        <a:bodyPr/>
        <a:lstStyle/>
        <a:p>
          <a:endParaRPr lang="en-US"/>
        </a:p>
      </dgm:t>
    </dgm:pt>
    <dgm:pt modelId="{6D715AD1-8462-456E-977A-47F3EB19D4E5}" type="sibTrans" cxnId="{39E2BCB9-9178-45E5-9600-1D3EFDEF92F5}">
      <dgm:prSet/>
      <dgm:spPr/>
      <dgm:t>
        <a:bodyPr/>
        <a:lstStyle/>
        <a:p>
          <a:endParaRPr lang="en-US"/>
        </a:p>
      </dgm:t>
    </dgm:pt>
    <dgm:pt modelId="{0EE7FF0B-46C1-423D-B10B-E7EE2D42EC86}">
      <dgm:prSet/>
      <dgm:spPr/>
      <dgm:t>
        <a:bodyPr/>
        <a:lstStyle/>
        <a:p>
          <a:r>
            <a:rPr lang="en-US" sz="2000" b="1" dirty="0">
              <a:latin typeface="Calibri"/>
              <a:ea typeface="Calibri"/>
              <a:cs typeface="Calibri"/>
            </a:rPr>
            <a:t>Average Order Value:</a:t>
          </a:r>
          <a:r>
            <a:rPr lang="en-US" sz="2000" b="1" dirty="0">
              <a:solidFill>
                <a:schemeClr val="tx1"/>
              </a:solidFill>
              <a:latin typeface="Calibri"/>
              <a:ea typeface="Calibri"/>
              <a:cs typeface="Calibri"/>
            </a:rPr>
            <a:t> ₹596.50</a:t>
          </a:r>
          <a:endParaRPr lang="en-US" sz="2000" dirty="0">
            <a:solidFill>
              <a:schemeClr val="tx1"/>
            </a:solidFill>
            <a:latin typeface="Calibri"/>
            <a:ea typeface="Calibri"/>
            <a:cs typeface="Calibri"/>
          </a:endParaRPr>
        </a:p>
      </dgm:t>
    </dgm:pt>
    <dgm:pt modelId="{228E8086-ADF3-4B17-8DA9-22EF1D711AFD}" type="parTrans" cxnId="{8185626C-FB95-4A32-984F-0A94D23291B0}">
      <dgm:prSet/>
      <dgm:spPr/>
      <dgm:t>
        <a:bodyPr/>
        <a:lstStyle/>
        <a:p>
          <a:endParaRPr lang="en-US"/>
        </a:p>
      </dgm:t>
    </dgm:pt>
    <dgm:pt modelId="{CAD09257-F4BB-4860-929E-2150837AD95C}" type="sibTrans" cxnId="{8185626C-FB95-4A32-984F-0A94D23291B0}">
      <dgm:prSet/>
      <dgm:spPr/>
      <dgm:t>
        <a:bodyPr/>
        <a:lstStyle/>
        <a:p>
          <a:endParaRPr lang="en-US"/>
        </a:p>
      </dgm:t>
    </dgm:pt>
    <dgm:pt modelId="{2C14E79B-FA85-48B0-9438-3C53784A838A}">
      <dgm:prSet/>
      <dgm:spPr/>
      <dgm:t>
        <a:bodyPr/>
        <a:lstStyle/>
        <a:p>
          <a:pPr rtl="0"/>
          <a:r>
            <a:rPr lang="en-US" sz="2000" b="1" dirty="0">
              <a:latin typeface="Calibri"/>
              <a:ea typeface="Calibri"/>
              <a:cs typeface="Calibri"/>
            </a:rPr>
            <a:t>Cancellation Rate: 14.22%</a:t>
          </a:r>
          <a:endParaRPr lang="en-US" sz="2000" dirty="0">
            <a:latin typeface="Calibri"/>
            <a:ea typeface="Calibri"/>
            <a:cs typeface="Calibri"/>
          </a:endParaRPr>
        </a:p>
      </dgm:t>
    </dgm:pt>
    <dgm:pt modelId="{7A48EED0-DB74-4CB8-9F4D-CCFCE3D0E415}" type="parTrans" cxnId="{7FEB9AC4-A299-49B9-92FF-975471EFAE67}">
      <dgm:prSet/>
      <dgm:spPr/>
      <dgm:t>
        <a:bodyPr/>
        <a:lstStyle/>
        <a:p>
          <a:endParaRPr lang="en-US"/>
        </a:p>
      </dgm:t>
    </dgm:pt>
    <dgm:pt modelId="{FD3C7C13-3086-45A8-B5C9-9F90FE94BB01}" type="sibTrans" cxnId="{7FEB9AC4-A299-49B9-92FF-975471EFAE67}">
      <dgm:prSet/>
      <dgm:spPr/>
      <dgm:t>
        <a:bodyPr/>
        <a:lstStyle/>
        <a:p>
          <a:endParaRPr lang="en-US"/>
        </a:p>
      </dgm:t>
    </dgm:pt>
    <dgm:pt modelId="{9CFE431F-9858-4D34-9071-8FD97EC8395D}" type="pres">
      <dgm:prSet presAssocID="{05F91C87-81D3-40FB-9711-0ED0DAD60D8C}" presName="diagram" presStyleCnt="0">
        <dgm:presLayoutVars>
          <dgm:dir/>
          <dgm:resizeHandles val="exact"/>
        </dgm:presLayoutVars>
      </dgm:prSet>
      <dgm:spPr/>
    </dgm:pt>
    <dgm:pt modelId="{497E059B-38C3-43D4-9547-AD8409A785E0}" type="pres">
      <dgm:prSet presAssocID="{98AA4B48-BA02-4506-8BF2-07546187A9BF}" presName="node" presStyleLbl="node1" presStyleIdx="0" presStyleCnt="5">
        <dgm:presLayoutVars>
          <dgm:bulletEnabled val="1"/>
        </dgm:presLayoutVars>
      </dgm:prSet>
      <dgm:spPr/>
    </dgm:pt>
    <dgm:pt modelId="{FDBD4CD1-AAA5-4724-82E3-62FB7FF1B6B2}" type="pres">
      <dgm:prSet presAssocID="{150FF648-2C9A-451E-89E7-FF785CCBBCF4}" presName="sibTrans" presStyleCnt="0"/>
      <dgm:spPr/>
    </dgm:pt>
    <dgm:pt modelId="{3F4F764B-840F-43D0-9DCE-9A8476499960}" type="pres">
      <dgm:prSet presAssocID="{4A173B6D-2F16-4914-9DD4-889E9792BBFD}" presName="node" presStyleLbl="node1" presStyleIdx="1" presStyleCnt="5">
        <dgm:presLayoutVars>
          <dgm:bulletEnabled val="1"/>
        </dgm:presLayoutVars>
      </dgm:prSet>
      <dgm:spPr/>
    </dgm:pt>
    <dgm:pt modelId="{67ECEF0A-A153-4D4F-A9D5-824898131E4C}" type="pres">
      <dgm:prSet presAssocID="{F7CAFC14-E20A-462D-B571-F00DEBD47987}" presName="sibTrans" presStyleCnt="0"/>
      <dgm:spPr/>
    </dgm:pt>
    <dgm:pt modelId="{4F1A1023-B227-4151-81C2-C948F4F85B6D}" type="pres">
      <dgm:prSet presAssocID="{FAEA66A5-EAC5-4831-BD6C-A549D7487E7E}" presName="node" presStyleLbl="node1" presStyleIdx="2" presStyleCnt="5">
        <dgm:presLayoutVars>
          <dgm:bulletEnabled val="1"/>
        </dgm:presLayoutVars>
      </dgm:prSet>
      <dgm:spPr/>
    </dgm:pt>
    <dgm:pt modelId="{6872DE40-20DC-41AF-910F-DADADB40C43C}" type="pres">
      <dgm:prSet presAssocID="{6D715AD1-8462-456E-977A-47F3EB19D4E5}" presName="sibTrans" presStyleCnt="0"/>
      <dgm:spPr/>
    </dgm:pt>
    <dgm:pt modelId="{31C59513-D33B-4611-9F5F-260147E77F6C}" type="pres">
      <dgm:prSet presAssocID="{0EE7FF0B-46C1-423D-B10B-E7EE2D42EC86}" presName="node" presStyleLbl="node1" presStyleIdx="3" presStyleCnt="5">
        <dgm:presLayoutVars>
          <dgm:bulletEnabled val="1"/>
        </dgm:presLayoutVars>
      </dgm:prSet>
      <dgm:spPr/>
    </dgm:pt>
    <dgm:pt modelId="{2F46EE36-E0CD-4EA6-8BDD-8ED79B0AFBB3}" type="pres">
      <dgm:prSet presAssocID="{CAD09257-F4BB-4860-929E-2150837AD95C}" presName="sibTrans" presStyleCnt="0"/>
      <dgm:spPr/>
    </dgm:pt>
    <dgm:pt modelId="{F6331620-B8B9-4A54-8A1C-BD4E27C092BD}" type="pres">
      <dgm:prSet presAssocID="{2C14E79B-FA85-48B0-9438-3C53784A838A}" presName="node" presStyleLbl="node1" presStyleIdx="4" presStyleCnt="5">
        <dgm:presLayoutVars>
          <dgm:bulletEnabled val="1"/>
        </dgm:presLayoutVars>
      </dgm:prSet>
      <dgm:spPr/>
    </dgm:pt>
  </dgm:ptLst>
  <dgm:cxnLst>
    <dgm:cxn modelId="{5CE8DB03-7390-4059-807F-F0D8DB33AB81}" type="presOf" srcId="{0EE7FF0B-46C1-423D-B10B-E7EE2D42EC86}" destId="{31C59513-D33B-4611-9F5F-260147E77F6C}" srcOrd="0" destOrd="0" presId="urn:microsoft.com/office/officeart/2005/8/layout/default"/>
    <dgm:cxn modelId="{7FC55022-10B5-45CF-BDBB-E481BC910754}" type="presOf" srcId="{FAEA66A5-EAC5-4831-BD6C-A549D7487E7E}" destId="{4F1A1023-B227-4151-81C2-C948F4F85B6D}" srcOrd="0" destOrd="0" presId="urn:microsoft.com/office/officeart/2005/8/layout/default"/>
    <dgm:cxn modelId="{05B6CC2B-6087-497C-B0F2-C749CA4CD443}" type="presOf" srcId="{98AA4B48-BA02-4506-8BF2-07546187A9BF}" destId="{497E059B-38C3-43D4-9547-AD8409A785E0}" srcOrd="0" destOrd="0" presId="urn:microsoft.com/office/officeart/2005/8/layout/default"/>
    <dgm:cxn modelId="{3F636942-30BB-417C-9B2A-63C2A3565CE5}" type="presOf" srcId="{2C14E79B-FA85-48B0-9438-3C53784A838A}" destId="{F6331620-B8B9-4A54-8A1C-BD4E27C092BD}" srcOrd="0" destOrd="0" presId="urn:microsoft.com/office/officeart/2005/8/layout/default"/>
    <dgm:cxn modelId="{8185626C-FB95-4A32-984F-0A94D23291B0}" srcId="{05F91C87-81D3-40FB-9711-0ED0DAD60D8C}" destId="{0EE7FF0B-46C1-423D-B10B-E7EE2D42EC86}" srcOrd="3" destOrd="0" parTransId="{228E8086-ADF3-4B17-8DA9-22EF1D711AFD}" sibTransId="{CAD09257-F4BB-4860-929E-2150837AD95C}"/>
    <dgm:cxn modelId="{621BBC93-3BE2-41A3-A0B0-B0D9080BACEC}" srcId="{05F91C87-81D3-40FB-9711-0ED0DAD60D8C}" destId="{4A173B6D-2F16-4914-9DD4-889E9792BBFD}" srcOrd="1" destOrd="0" parTransId="{D97DFD7F-FC00-4AF1-82EB-FC417B564A6F}" sibTransId="{F7CAFC14-E20A-462D-B571-F00DEBD47987}"/>
    <dgm:cxn modelId="{7F2298A7-F5D8-4440-AE85-E5033D93BD2F}" srcId="{05F91C87-81D3-40FB-9711-0ED0DAD60D8C}" destId="{98AA4B48-BA02-4506-8BF2-07546187A9BF}" srcOrd="0" destOrd="0" parTransId="{C7124CF5-72B0-44C1-A3A2-835FE5C159C8}" sibTransId="{150FF648-2C9A-451E-89E7-FF785CCBBCF4}"/>
    <dgm:cxn modelId="{356513AE-8A94-4984-A929-9D3055E0C897}" type="presOf" srcId="{05F91C87-81D3-40FB-9711-0ED0DAD60D8C}" destId="{9CFE431F-9858-4D34-9071-8FD97EC8395D}" srcOrd="0" destOrd="0" presId="urn:microsoft.com/office/officeart/2005/8/layout/default"/>
    <dgm:cxn modelId="{39E2BCB9-9178-45E5-9600-1D3EFDEF92F5}" srcId="{05F91C87-81D3-40FB-9711-0ED0DAD60D8C}" destId="{FAEA66A5-EAC5-4831-BD6C-A549D7487E7E}" srcOrd="2" destOrd="0" parTransId="{CD1FCFAA-6CC9-4EA1-A15A-7D0BE044D5E0}" sibTransId="{6D715AD1-8462-456E-977A-47F3EB19D4E5}"/>
    <dgm:cxn modelId="{3FCCD5BC-BD1B-4BF3-854F-3335AEF1E59E}" type="presOf" srcId="{4A173B6D-2F16-4914-9DD4-889E9792BBFD}" destId="{3F4F764B-840F-43D0-9DCE-9A8476499960}" srcOrd="0" destOrd="0" presId="urn:microsoft.com/office/officeart/2005/8/layout/default"/>
    <dgm:cxn modelId="{7FEB9AC4-A299-49B9-92FF-975471EFAE67}" srcId="{05F91C87-81D3-40FB-9711-0ED0DAD60D8C}" destId="{2C14E79B-FA85-48B0-9438-3C53784A838A}" srcOrd="4" destOrd="0" parTransId="{7A48EED0-DB74-4CB8-9F4D-CCFCE3D0E415}" sibTransId="{FD3C7C13-3086-45A8-B5C9-9F90FE94BB01}"/>
    <dgm:cxn modelId="{473B4925-0E3A-463D-9D0D-04275FF89486}" type="presParOf" srcId="{9CFE431F-9858-4D34-9071-8FD97EC8395D}" destId="{497E059B-38C3-43D4-9547-AD8409A785E0}" srcOrd="0" destOrd="0" presId="urn:microsoft.com/office/officeart/2005/8/layout/default"/>
    <dgm:cxn modelId="{A9B45E35-1097-4D85-80FF-36D76AF6A572}" type="presParOf" srcId="{9CFE431F-9858-4D34-9071-8FD97EC8395D}" destId="{FDBD4CD1-AAA5-4724-82E3-62FB7FF1B6B2}" srcOrd="1" destOrd="0" presId="urn:microsoft.com/office/officeart/2005/8/layout/default"/>
    <dgm:cxn modelId="{64865745-B645-4E15-9AD0-5D0422D3EE41}" type="presParOf" srcId="{9CFE431F-9858-4D34-9071-8FD97EC8395D}" destId="{3F4F764B-840F-43D0-9DCE-9A8476499960}" srcOrd="2" destOrd="0" presId="urn:microsoft.com/office/officeart/2005/8/layout/default"/>
    <dgm:cxn modelId="{BBBA88FA-CB07-4ABD-A750-BA0960DB4295}" type="presParOf" srcId="{9CFE431F-9858-4D34-9071-8FD97EC8395D}" destId="{67ECEF0A-A153-4D4F-A9D5-824898131E4C}" srcOrd="3" destOrd="0" presId="urn:microsoft.com/office/officeart/2005/8/layout/default"/>
    <dgm:cxn modelId="{6BDC4FD2-7CEF-49A7-8347-7F3B464530D1}" type="presParOf" srcId="{9CFE431F-9858-4D34-9071-8FD97EC8395D}" destId="{4F1A1023-B227-4151-81C2-C948F4F85B6D}" srcOrd="4" destOrd="0" presId="urn:microsoft.com/office/officeart/2005/8/layout/default"/>
    <dgm:cxn modelId="{DD402E37-6813-4E46-90E9-AA2DA47D6310}" type="presParOf" srcId="{9CFE431F-9858-4D34-9071-8FD97EC8395D}" destId="{6872DE40-20DC-41AF-910F-DADADB40C43C}" srcOrd="5" destOrd="0" presId="urn:microsoft.com/office/officeart/2005/8/layout/default"/>
    <dgm:cxn modelId="{90E2FD8D-97C7-498A-B85F-BD73C985E388}" type="presParOf" srcId="{9CFE431F-9858-4D34-9071-8FD97EC8395D}" destId="{31C59513-D33B-4611-9F5F-260147E77F6C}" srcOrd="6" destOrd="0" presId="urn:microsoft.com/office/officeart/2005/8/layout/default"/>
    <dgm:cxn modelId="{950504FD-5979-4C15-8D89-C6DF8C9E9C3C}" type="presParOf" srcId="{9CFE431F-9858-4D34-9071-8FD97EC8395D}" destId="{2F46EE36-E0CD-4EA6-8BDD-8ED79B0AFBB3}" srcOrd="7" destOrd="0" presId="urn:microsoft.com/office/officeart/2005/8/layout/default"/>
    <dgm:cxn modelId="{08502882-9BBD-428F-9B5A-82ECF99CDFF6}" type="presParOf" srcId="{9CFE431F-9858-4D34-9071-8FD97EC8395D}" destId="{F6331620-B8B9-4A54-8A1C-BD4E27C092BD}"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F91C87-81D3-40FB-9711-0ED0DAD60D8C}" type="doc">
      <dgm:prSet loTypeId="urn:microsoft.com/office/officeart/2016/7/layout/LinearArrowProcessNumbered" loCatId="process" qsTypeId="urn:microsoft.com/office/officeart/2005/8/quickstyle/simple1" qsCatId="simple" csTypeId="urn:microsoft.com/office/officeart/2005/8/colors/accent3_2" csCatId="accent3" phldr="1"/>
      <dgm:spPr/>
      <dgm:t>
        <a:bodyPr/>
        <a:lstStyle/>
        <a:p>
          <a:endParaRPr lang="en-US"/>
        </a:p>
      </dgm:t>
    </dgm:pt>
    <dgm:pt modelId="{98AA4B48-BA02-4506-8BF2-07546187A9BF}">
      <dgm:prSet/>
      <dgm:spPr/>
      <dgm:t>
        <a:bodyPr/>
        <a:lstStyle/>
        <a:p>
          <a:pPr rtl="0"/>
          <a:r>
            <a:rPr lang="en-US" b="1">
              <a:latin typeface="Walbaum Display"/>
              <a:ea typeface="Calibri"/>
              <a:cs typeface="Calibri"/>
            </a:rPr>
            <a:t>Total</a:t>
          </a:r>
          <a:r>
            <a:rPr lang="en-US" b="1"/>
            <a:t> </a:t>
          </a:r>
          <a:r>
            <a:rPr lang="en-US" b="1">
              <a:latin typeface="Walbaum Display"/>
              <a:ea typeface="Calibri"/>
              <a:cs typeface="Calibri"/>
            </a:rPr>
            <a:t>Revenue + Revenue</a:t>
          </a:r>
          <a:r>
            <a:rPr lang="en-US" b="1"/>
            <a:t> Growth (MoM</a:t>
          </a:r>
          <a:r>
            <a:rPr lang="en-US" b="1">
              <a:latin typeface="Walbaum Display"/>
            </a:rPr>
            <a:t>):</a:t>
          </a:r>
          <a:r>
            <a:rPr lang="en-US" b="0">
              <a:latin typeface="Walbaum Display"/>
            </a:rPr>
            <a:t> </a:t>
          </a:r>
          <a:r>
            <a:rPr lang="en-US"/>
            <a:t>Shows how much money the company earned and the month-over-month growth trend. Helps understand overall financial performance and business scaling.</a:t>
          </a:r>
          <a:endParaRPr lang="en-US" b="1">
            <a:latin typeface="Walbaum Display"/>
          </a:endParaRPr>
        </a:p>
      </dgm:t>
    </dgm:pt>
    <dgm:pt modelId="{C7124CF5-72B0-44C1-A3A2-835FE5C159C8}" type="parTrans" cxnId="{7F2298A7-F5D8-4440-AE85-E5033D93BD2F}">
      <dgm:prSet/>
      <dgm:spPr/>
      <dgm:t>
        <a:bodyPr/>
        <a:lstStyle/>
        <a:p>
          <a:endParaRPr lang="en-US"/>
        </a:p>
      </dgm:t>
    </dgm:pt>
    <dgm:pt modelId="{150FF648-2C9A-451E-89E7-FF785CCBBCF4}" type="sibTrans" cxnId="{7F2298A7-F5D8-4440-AE85-E5033D93BD2F}">
      <dgm:prSet phldrT="1"/>
      <dgm:spPr/>
      <dgm:t>
        <a:bodyPr/>
        <a:lstStyle/>
        <a:p>
          <a:r>
            <a:rPr lang="en-US"/>
            <a:t>1</a:t>
          </a:r>
        </a:p>
      </dgm:t>
    </dgm:pt>
    <dgm:pt modelId="{4A173B6D-2F16-4914-9DD4-889E9792BBFD}">
      <dgm:prSet/>
      <dgm:spPr/>
      <dgm:t>
        <a:bodyPr/>
        <a:lstStyle/>
        <a:p>
          <a:r>
            <a:rPr lang="en-US" b="1" dirty="0"/>
            <a:t>Count of Order: </a:t>
          </a:r>
          <a:r>
            <a:rPr lang="en-US" dirty="0"/>
            <a:t>Measures the total number of orders over time. Indicates sales volume and customer demand trends.</a:t>
          </a:r>
        </a:p>
      </dgm:t>
    </dgm:pt>
    <dgm:pt modelId="{D97DFD7F-FC00-4AF1-82EB-FC417B564A6F}" type="parTrans" cxnId="{621BBC93-3BE2-41A3-A0B0-B0D9080BACEC}">
      <dgm:prSet/>
      <dgm:spPr/>
      <dgm:t>
        <a:bodyPr/>
        <a:lstStyle/>
        <a:p>
          <a:endParaRPr lang="en-US"/>
        </a:p>
      </dgm:t>
    </dgm:pt>
    <dgm:pt modelId="{F7CAFC14-E20A-462D-B571-F00DEBD47987}" type="sibTrans" cxnId="{621BBC93-3BE2-41A3-A0B0-B0D9080BACEC}">
      <dgm:prSet phldrT="2"/>
      <dgm:spPr/>
      <dgm:t>
        <a:bodyPr/>
        <a:lstStyle/>
        <a:p>
          <a:r>
            <a:rPr lang="en-US"/>
            <a:t>2</a:t>
          </a:r>
        </a:p>
      </dgm:t>
    </dgm:pt>
    <dgm:pt modelId="{FAEA66A5-EAC5-4831-BD6C-A549D7487E7E}">
      <dgm:prSet/>
      <dgm:spPr/>
      <dgm:t>
        <a:bodyPr/>
        <a:lstStyle/>
        <a:p>
          <a:r>
            <a:rPr lang="en-US" b="1" dirty="0"/>
            <a:t>On-Time Delivery Rate:</a:t>
          </a:r>
          <a:r>
            <a:rPr lang="en-US" dirty="0"/>
            <a:t> Measures how many orders were delivered on time. Reflects logistics efficiency and fulfillment reliability.</a:t>
          </a:r>
        </a:p>
      </dgm:t>
    </dgm:pt>
    <dgm:pt modelId="{CD1FCFAA-6CC9-4EA1-A15A-7D0BE044D5E0}" type="parTrans" cxnId="{39E2BCB9-9178-45E5-9600-1D3EFDEF92F5}">
      <dgm:prSet/>
      <dgm:spPr/>
      <dgm:t>
        <a:bodyPr/>
        <a:lstStyle/>
        <a:p>
          <a:endParaRPr lang="en-US"/>
        </a:p>
      </dgm:t>
    </dgm:pt>
    <dgm:pt modelId="{6D715AD1-8462-456E-977A-47F3EB19D4E5}" type="sibTrans" cxnId="{39E2BCB9-9178-45E5-9600-1D3EFDEF92F5}">
      <dgm:prSet phldrT="3"/>
      <dgm:spPr/>
      <dgm:t>
        <a:bodyPr/>
        <a:lstStyle/>
        <a:p>
          <a:r>
            <a:rPr lang="en-US"/>
            <a:t>3</a:t>
          </a:r>
        </a:p>
      </dgm:t>
    </dgm:pt>
    <dgm:pt modelId="{0EE7FF0B-46C1-423D-B10B-E7EE2D42EC86}">
      <dgm:prSet/>
      <dgm:spPr/>
      <dgm:t>
        <a:bodyPr/>
        <a:lstStyle/>
        <a:p>
          <a:r>
            <a:rPr lang="en-US" b="1" dirty="0"/>
            <a:t>Average Order Value: </a:t>
          </a:r>
          <a:r>
            <a:rPr lang="en-US" dirty="0"/>
            <a:t>Helps understand customer spending behavior and product pricing effectiveness.</a:t>
          </a:r>
        </a:p>
      </dgm:t>
    </dgm:pt>
    <dgm:pt modelId="{228E8086-ADF3-4B17-8DA9-22EF1D711AFD}" type="parTrans" cxnId="{8185626C-FB95-4A32-984F-0A94D23291B0}">
      <dgm:prSet/>
      <dgm:spPr/>
      <dgm:t>
        <a:bodyPr/>
        <a:lstStyle/>
        <a:p>
          <a:endParaRPr lang="en-US"/>
        </a:p>
      </dgm:t>
    </dgm:pt>
    <dgm:pt modelId="{CAD09257-F4BB-4860-929E-2150837AD95C}" type="sibTrans" cxnId="{8185626C-FB95-4A32-984F-0A94D23291B0}">
      <dgm:prSet phldrT="4"/>
      <dgm:spPr/>
      <dgm:t>
        <a:bodyPr/>
        <a:lstStyle/>
        <a:p>
          <a:r>
            <a:rPr lang="en-US"/>
            <a:t>4</a:t>
          </a:r>
        </a:p>
      </dgm:t>
    </dgm:pt>
    <dgm:pt modelId="{2C14E79B-FA85-48B0-9438-3C53784A838A}">
      <dgm:prSet/>
      <dgm:spPr/>
      <dgm:t>
        <a:bodyPr/>
        <a:lstStyle/>
        <a:p>
          <a:r>
            <a:rPr lang="en-US" b="1" dirty="0"/>
            <a:t>Cancellation Rate:</a:t>
          </a:r>
          <a:r>
            <a:rPr lang="en-US" dirty="0"/>
            <a:t> Percentage of orders that were canceled. Highlights operational challenges or customer dissatisfaction.</a:t>
          </a:r>
        </a:p>
      </dgm:t>
    </dgm:pt>
    <dgm:pt modelId="{7A48EED0-DB74-4CB8-9F4D-CCFCE3D0E415}" type="parTrans" cxnId="{7FEB9AC4-A299-49B9-92FF-975471EFAE67}">
      <dgm:prSet/>
      <dgm:spPr/>
      <dgm:t>
        <a:bodyPr/>
        <a:lstStyle/>
        <a:p>
          <a:endParaRPr lang="en-US"/>
        </a:p>
      </dgm:t>
    </dgm:pt>
    <dgm:pt modelId="{FD3C7C13-3086-45A8-B5C9-9F90FE94BB01}" type="sibTrans" cxnId="{7FEB9AC4-A299-49B9-92FF-975471EFAE67}">
      <dgm:prSet phldrT="5"/>
      <dgm:spPr/>
      <dgm:t>
        <a:bodyPr/>
        <a:lstStyle/>
        <a:p>
          <a:r>
            <a:rPr lang="en-US"/>
            <a:t>5</a:t>
          </a:r>
        </a:p>
      </dgm:t>
    </dgm:pt>
    <dgm:pt modelId="{4506474D-300B-47C2-82AA-E9B43E022B5D}" type="pres">
      <dgm:prSet presAssocID="{05F91C87-81D3-40FB-9711-0ED0DAD60D8C}" presName="linearFlow" presStyleCnt="0">
        <dgm:presLayoutVars>
          <dgm:dir/>
          <dgm:animLvl val="lvl"/>
          <dgm:resizeHandles val="exact"/>
        </dgm:presLayoutVars>
      </dgm:prSet>
      <dgm:spPr/>
    </dgm:pt>
    <dgm:pt modelId="{8EA0ED16-78E9-401A-B5EC-442D06C69DA5}" type="pres">
      <dgm:prSet presAssocID="{98AA4B48-BA02-4506-8BF2-07546187A9BF}" presName="compositeNode" presStyleCnt="0"/>
      <dgm:spPr/>
    </dgm:pt>
    <dgm:pt modelId="{2EE06980-FB86-4A39-AF30-C03F17329222}" type="pres">
      <dgm:prSet presAssocID="{98AA4B48-BA02-4506-8BF2-07546187A9BF}" presName="parTx" presStyleLbl="node1" presStyleIdx="0" presStyleCnt="0">
        <dgm:presLayoutVars>
          <dgm:chMax val="0"/>
          <dgm:chPref val="0"/>
          <dgm:bulletEnabled val="1"/>
        </dgm:presLayoutVars>
      </dgm:prSet>
      <dgm:spPr/>
    </dgm:pt>
    <dgm:pt modelId="{21227043-9BFA-4C8C-9B94-A6C214C8351E}" type="pres">
      <dgm:prSet presAssocID="{98AA4B48-BA02-4506-8BF2-07546187A9BF}" presName="parSh" presStyleCnt="0"/>
      <dgm:spPr/>
    </dgm:pt>
    <dgm:pt modelId="{56A76776-CFAD-49E4-9E60-04FBE48BDB0D}" type="pres">
      <dgm:prSet presAssocID="{98AA4B48-BA02-4506-8BF2-07546187A9BF}" presName="lineNode" presStyleLbl="alignAccFollowNode1" presStyleIdx="0" presStyleCnt="15"/>
      <dgm:spPr/>
    </dgm:pt>
    <dgm:pt modelId="{8EFA8863-C6F5-4135-93D9-3712D0FBE7E4}" type="pres">
      <dgm:prSet presAssocID="{98AA4B48-BA02-4506-8BF2-07546187A9BF}" presName="lineArrowNode" presStyleLbl="alignAccFollowNode1" presStyleIdx="1" presStyleCnt="15"/>
      <dgm:spPr/>
    </dgm:pt>
    <dgm:pt modelId="{832C4FDF-B655-477B-AD77-B96916EA0CD6}" type="pres">
      <dgm:prSet presAssocID="{150FF648-2C9A-451E-89E7-FF785CCBBCF4}" presName="sibTransNodeCircle" presStyleLbl="alignNode1" presStyleIdx="0" presStyleCnt="5">
        <dgm:presLayoutVars>
          <dgm:chMax val="0"/>
          <dgm:bulletEnabled/>
        </dgm:presLayoutVars>
      </dgm:prSet>
      <dgm:spPr/>
    </dgm:pt>
    <dgm:pt modelId="{DAC28361-1115-40BA-B9CD-7058006E5009}" type="pres">
      <dgm:prSet presAssocID="{150FF648-2C9A-451E-89E7-FF785CCBBCF4}" presName="spacerBetweenCircleAndCallout" presStyleCnt="0">
        <dgm:presLayoutVars/>
      </dgm:prSet>
      <dgm:spPr/>
    </dgm:pt>
    <dgm:pt modelId="{13C46686-0000-402D-B0B4-B5C84BF6026A}" type="pres">
      <dgm:prSet presAssocID="{98AA4B48-BA02-4506-8BF2-07546187A9BF}" presName="nodeText" presStyleLbl="alignAccFollowNode1" presStyleIdx="2" presStyleCnt="15">
        <dgm:presLayoutVars>
          <dgm:bulletEnabled val="1"/>
        </dgm:presLayoutVars>
      </dgm:prSet>
      <dgm:spPr/>
    </dgm:pt>
    <dgm:pt modelId="{A35DD404-8EA5-4BC4-A504-E0E8830EF10F}" type="pres">
      <dgm:prSet presAssocID="{150FF648-2C9A-451E-89E7-FF785CCBBCF4}" presName="sibTransComposite" presStyleCnt="0"/>
      <dgm:spPr/>
    </dgm:pt>
    <dgm:pt modelId="{4C2EA330-EAA7-4950-AD4E-B5D6C4E62D4C}" type="pres">
      <dgm:prSet presAssocID="{4A173B6D-2F16-4914-9DD4-889E9792BBFD}" presName="compositeNode" presStyleCnt="0"/>
      <dgm:spPr/>
    </dgm:pt>
    <dgm:pt modelId="{C4A19B83-EBF6-4FC0-BA4F-29C747A97703}" type="pres">
      <dgm:prSet presAssocID="{4A173B6D-2F16-4914-9DD4-889E9792BBFD}" presName="parTx" presStyleLbl="node1" presStyleIdx="0" presStyleCnt="0">
        <dgm:presLayoutVars>
          <dgm:chMax val="0"/>
          <dgm:chPref val="0"/>
          <dgm:bulletEnabled val="1"/>
        </dgm:presLayoutVars>
      </dgm:prSet>
      <dgm:spPr/>
    </dgm:pt>
    <dgm:pt modelId="{8435048B-4806-4C5B-87AF-76F61804D673}" type="pres">
      <dgm:prSet presAssocID="{4A173B6D-2F16-4914-9DD4-889E9792BBFD}" presName="parSh" presStyleCnt="0"/>
      <dgm:spPr/>
    </dgm:pt>
    <dgm:pt modelId="{E6A96800-565E-498F-934D-A83AA752F6B5}" type="pres">
      <dgm:prSet presAssocID="{4A173B6D-2F16-4914-9DD4-889E9792BBFD}" presName="lineNode" presStyleLbl="alignAccFollowNode1" presStyleIdx="3" presStyleCnt="15"/>
      <dgm:spPr/>
    </dgm:pt>
    <dgm:pt modelId="{F30A0199-E02E-4A55-99ED-18C6A076E324}" type="pres">
      <dgm:prSet presAssocID="{4A173B6D-2F16-4914-9DD4-889E9792BBFD}" presName="lineArrowNode" presStyleLbl="alignAccFollowNode1" presStyleIdx="4" presStyleCnt="15"/>
      <dgm:spPr/>
    </dgm:pt>
    <dgm:pt modelId="{27258C03-0723-40CD-920F-95B854F7F355}" type="pres">
      <dgm:prSet presAssocID="{F7CAFC14-E20A-462D-B571-F00DEBD47987}" presName="sibTransNodeCircle" presStyleLbl="alignNode1" presStyleIdx="1" presStyleCnt="5">
        <dgm:presLayoutVars>
          <dgm:chMax val="0"/>
          <dgm:bulletEnabled/>
        </dgm:presLayoutVars>
      </dgm:prSet>
      <dgm:spPr/>
    </dgm:pt>
    <dgm:pt modelId="{C18FF209-A24D-4D17-B554-B14D9449A5E0}" type="pres">
      <dgm:prSet presAssocID="{F7CAFC14-E20A-462D-B571-F00DEBD47987}" presName="spacerBetweenCircleAndCallout" presStyleCnt="0">
        <dgm:presLayoutVars/>
      </dgm:prSet>
      <dgm:spPr/>
    </dgm:pt>
    <dgm:pt modelId="{94E50F23-492B-4B3E-991A-929593069859}" type="pres">
      <dgm:prSet presAssocID="{4A173B6D-2F16-4914-9DD4-889E9792BBFD}" presName="nodeText" presStyleLbl="alignAccFollowNode1" presStyleIdx="5" presStyleCnt="15">
        <dgm:presLayoutVars>
          <dgm:bulletEnabled val="1"/>
        </dgm:presLayoutVars>
      </dgm:prSet>
      <dgm:spPr/>
    </dgm:pt>
    <dgm:pt modelId="{846EAC33-8776-48C4-AEFD-ED5197E17ACF}" type="pres">
      <dgm:prSet presAssocID="{F7CAFC14-E20A-462D-B571-F00DEBD47987}" presName="sibTransComposite" presStyleCnt="0"/>
      <dgm:spPr/>
    </dgm:pt>
    <dgm:pt modelId="{061EDDBD-82DB-4098-B1C6-F83E39AFB51D}" type="pres">
      <dgm:prSet presAssocID="{FAEA66A5-EAC5-4831-BD6C-A549D7487E7E}" presName="compositeNode" presStyleCnt="0"/>
      <dgm:spPr/>
    </dgm:pt>
    <dgm:pt modelId="{9F97F30C-1A0A-48E1-B692-0D6275C30FC1}" type="pres">
      <dgm:prSet presAssocID="{FAEA66A5-EAC5-4831-BD6C-A549D7487E7E}" presName="parTx" presStyleLbl="node1" presStyleIdx="0" presStyleCnt="0">
        <dgm:presLayoutVars>
          <dgm:chMax val="0"/>
          <dgm:chPref val="0"/>
          <dgm:bulletEnabled val="1"/>
        </dgm:presLayoutVars>
      </dgm:prSet>
      <dgm:spPr/>
    </dgm:pt>
    <dgm:pt modelId="{DA62CF91-A13F-4066-BA5F-B50D8B1086E4}" type="pres">
      <dgm:prSet presAssocID="{FAEA66A5-EAC5-4831-BD6C-A549D7487E7E}" presName="parSh" presStyleCnt="0"/>
      <dgm:spPr/>
    </dgm:pt>
    <dgm:pt modelId="{71476FC0-AB93-4AF3-963F-1D7A444870A6}" type="pres">
      <dgm:prSet presAssocID="{FAEA66A5-EAC5-4831-BD6C-A549D7487E7E}" presName="lineNode" presStyleLbl="alignAccFollowNode1" presStyleIdx="6" presStyleCnt="15"/>
      <dgm:spPr/>
    </dgm:pt>
    <dgm:pt modelId="{6980B35A-A296-4068-861F-1C1E5BBA905C}" type="pres">
      <dgm:prSet presAssocID="{FAEA66A5-EAC5-4831-BD6C-A549D7487E7E}" presName="lineArrowNode" presStyleLbl="alignAccFollowNode1" presStyleIdx="7" presStyleCnt="15"/>
      <dgm:spPr/>
    </dgm:pt>
    <dgm:pt modelId="{C10E7B26-B693-40B0-B9CC-7FC1062D4AAB}" type="pres">
      <dgm:prSet presAssocID="{6D715AD1-8462-456E-977A-47F3EB19D4E5}" presName="sibTransNodeCircle" presStyleLbl="alignNode1" presStyleIdx="2" presStyleCnt="5">
        <dgm:presLayoutVars>
          <dgm:chMax val="0"/>
          <dgm:bulletEnabled/>
        </dgm:presLayoutVars>
      </dgm:prSet>
      <dgm:spPr/>
    </dgm:pt>
    <dgm:pt modelId="{9D1DF438-CD30-4352-AD48-8C4700F540E6}" type="pres">
      <dgm:prSet presAssocID="{6D715AD1-8462-456E-977A-47F3EB19D4E5}" presName="spacerBetweenCircleAndCallout" presStyleCnt="0">
        <dgm:presLayoutVars/>
      </dgm:prSet>
      <dgm:spPr/>
    </dgm:pt>
    <dgm:pt modelId="{AF16DDF6-0371-46EB-91FE-C27054DBEB8C}" type="pres">
      <dgm:prSet presAssocID="{FAEA66A5-EAC5-4831-BD6C-A549D7487E7E}" presName="nodeText" presStyleLbl="alignAccFollowNode1" presStyleIdx="8" presStyleCnt="15">
        <dgm:presLayoutVars>
          <dgm:bulletEnabled val="1"/>
        </dgm:presLayoutVars>
      </dgm:prSet>
      <dgm:spPr/>
    </dgm:pt>
    <dgm:pt modelId="{5807799B-69AC-4220-AA0E-80EC1FD1DDC8}" type="pres">
      <dgm:prSet presAssocID="{6D715AD1-8462-456E-977A-47F3EB19D4E5}" presName="sibTransComposite" presStyleCnt="0"/>
      <dgm:spPr/>
    </dgm:pt>
    <dgm:pt modelId="{16BBC841-2FFB-44EB-A5A7-1E53378C9B3B}" type="pres">
      <dgm:prSet presAssocID="{0EE7FF0B-46C1-423D-B10B-E7EE2D42EC86}" presName="compositeNode" presStyleCnt="0"/>
      <dgm:spPr/>
    </dgm:pt>
    <dgm:pt modelId="{3F7CB9AD-7F03-4EE6-BAEC-6E5B88000F95}" type="pres">
      <dgm:prSet presAssocID="{0EE7FF0B-46C1-423D-B10B-E7EE2D42EC86}" presName="parTx" presStyleLbl="node1" presStyleIdx="0" presStyleCnt="0">
        <dgm:presLayoutVars>
          <dgm:chMax val="0"/>
          <dgm:chPref val="0"/>
          <dgm:bulletEnabled val="1"/>
        </dgm:presLayoutVars>
      </dgm:prSet>
      <dgm:spPr/>
    </dgm:pt>
    <dgm:pt modelId="{B7F089B1-5B92-499F-A8CE-430BDF805307}" type="pres">
      <dgm:prSet presAssocID="{0EE7FF0B-46C1-423D-B10B-E7EE2D42EC86}" presName="parSh" presStyleCnt="0"/>
      <dgm:spPr/>
    </dgm:pt>
    <dgm:pt modelId="{C0D323F1-4F59-43D8-8038-30D19F6C8F74}" type="pres">
      <dgm:prSet presAssocID="{0EE7FF0B-46C1-423D-B10B-E7EE2D42EC86}" presName="lineNode" presStyleLbl="alignAccFollowNode1" presStyleIdx="9" presStyleCnt="15"/>
      <dgm:spPr/>
    </dgm:pt>
    <dgm:pt modelId="{7384D888-C94C-4F34-BA0E-7A406E3CDF4E}" type="pres">
      <dgm:prSet presAssocID="{0EE7FF0B-46C1-423D-B10B-E7EE2D42EC86}" presName="lineArrowNode" presStyleLbl="alignAccFollowNode1" presStyleIdx="10" presStyleCnt="15"/>
      <dgm:spPr/>
    </dgm:pt>
    <dgm:pt modelId="{A2DCE6F1-2F98-482E-A0B3-DC1F6CEF06CF}" type="pres">
      <dgm:prSet presAssocID="{CAD09257-F4BB-4860-929E-2150837AD95C}" presName="sibTransNodeCircle" presStyleLbl="alignNode1" presStyleIdx="3" presStyleCnt="5">
        <dgm:presLayoutVars>
          <dgm:chMax val="0"/>
          <dgm:bulletEnabled/>
        </dgm:presLayoutVars>
      </dgm:prSet>
      <dgm:spPr/>
    </dgm:pt>
    <dgm:pt modelId="{9361E4D0-E8BE-45E2-8019-E7B44D94F3FB}" type="pres">
      <dgm:prSet presAssocID="{CAD09257-F4BB-4860-929E-2150837AD95C}" presName="spacerBetweenCircleAndCallout" presStyleCnt="0">
        <dgm:presLayoutVars/>
      </dgm:prSet>
      <dgm:spPr/>
    </dgm:pt>
    <dgm:pt modelId="{120F277F-A62D-48F8-BA53-39D8F3FDFF39}" type="pres">
      <dgm:prSet presAssocID="{0EE7FF0B-46C1-423D-B10B-E7EE2D42EC86}" presName="nodeText" presStyleLbl="alignAccFollowNode1" presStyleIdx="11" presStyleCnt="15">
        <dgm:presLayoutVars>
          <dgm:bulletEnabled val="1"/>
        </dgm:presLayoutVars>
      </dgm:prSet>
      <dgm:spPr/>
    </dgm:pt>
    <dgm:pt modelId="{1723C65B-7A25-4DEA-B916-FB5504EFD155}" type="pres">
      <dgm:prSet presAssocID="{CAD09257-F4BB-4860-929E-2150837AD95C}" presName="sibTransComposite" presStyleCnt="0"/>
      <dgm:spPr/>
    </dgm:pt>
    <dgm:pt modelId="{C1E21233-F217-4BB9-9567-196114205338}" type="pres">
      <dgm:prSet presAssocID="{2C14E79B-FA85-48B0-9438-3C53784A838A}" presName="compositeNode" presStyleCnt="0"/>
      <dgm:spPr/>
    </dgm:pt>
    <dgm:pt modelId="{4C6DAC68-D9FA-4BDA-AC01-D890EA14F5C0}" type="pres">
      <dgm:prSet presAssocID="{2C14E79B-FA85-48B0-9438-3C53784A838A}" presName="parTx" presStyleLbl="node1" presStyleIdx="0" presStyleCnt="0">
        <dgm:presLayoutVars>
          <dgm:chMax val="0"/>
          <dgm:chPref val="0"/>
          <dgm:bulletEnabled val="1"/>
        </dgm:presLayoutVars>
      </dgm:prSet>
      <dgm:spPr/>
    </dgm:pt>
    <dgm:pt modelId="{ABDFAC18-17E0-43CD-8677-E837F54F53AB}" type="pres">
      <dgm:prSet presAssocID="{2C14E79B-FA85-48B0-9438-3C53784A838A}" presName="parSh" presStyleCnt="0"/>
      <dgm:spPr/>
    </dgm:pt>
    <dgm:pt modelId="{FF71999A-9329-41CA-B560-DEB4146837A4}" type="pres">
      <dgm:prSet presAssocID="{2C14E79B-FA85-48B0-9438-3C53784A838A}" presName="lineNode" presStyleLbl="alignAccFollowNode1" presStyleIdx="12" presStyleCnt="15"/>
      <dgm:spPr/>
    </dgm:pt>
    <dgm:pt modelId="{6C177568-3714-4CA7-B35A-283988BAA8E9}" type="pres">
      <dgm:prSet presAssocID="{2C14E79B-FA85-48B0-9438-3C53784A838A}" presName="lineArrowNode" presStyleLbl="alignAccFollowNode1" presStyleIdx="13" presStyleCnt="15"/>
      <dgm:spPr/>
    </dgm:pt>
    <dgm:pt modelId="{C6C46B14-5E33-44D9-88D0-D97474E6D036}" type="pres">
      <dgm:prSet presAssocID="{FD3C7C13-3086-45A8-B5C9-9F90FE94BB01}" presName="sibTransNodeCircle" presStyleLbl="alignNode1" presStyleIdx="4" presStyleCnt="5">
        <dgm:presLayoutVars>
          <dgm:chMax val="0"/>
          <dgm:bulletEnabled/>
        </dgm:presLayoutVars>
      </dgm:prSet>
      <dgm:spPr/>
    </dgm:pt>
    <dgm:pt modelId="{02B408BA-A2AD-4E2A-A669-78BDD7527B55}" type="pres">
      <dgm:prSet presAssocID="{FD3C7C13-3086-45A8-B5C9-9F90FE94BB01}" presName="spacerBetweenCircleAndCallout" presStyleCnt="0">
        <dgm:presLayoutVars/>
      </dgm:prSet>
      <dgm:spPr/>
    </dgm:pt>
    <dgm:pt modelId="{CB5A0BEA-E69B-45B7-AFBA-C505848EEA4D}" type="pres">
      <dgm:prSet presAssocID="{2C14E79B-FA85-48B0-9438-3C53784A838A}" presName="nodeText" presStyleLbl="alignAccFollowNode1" presStyleIdx="14" presStyleCnt="15">
        <dgm:presLayoutVars>
          <dgm:bulletEnabled val="1"/>
        </dgm:presLayoutVars>
      </dgm:prSet>
      <dgm:spPr/>
    </dgm:pt>
  </dgm:ptLst>
  <dgm:cxnLst>
    <dgm:cxn modelId="{B482B70E-EEF3-4C5E-8607-C49826FAC83E}" type="presOf" srcId="{0EE7FF0B-46C1-423D-B10B-E7EE2D42EC86}" destId="{120F277F-A62D-48F8-BA53-39D8F3FDFF39}" srcOrd="0" destOrd="0" presId="urn:microsoft.com/office/officeart/2016/7/layout/LinearArrowProcessNumbered"/>
    <dgm:cxn modelId="{DD229024-84EF-405F-8C62-C3FDA5E0D4B5}" type="presOf" srcId="{6D715AD1-8462-456E-977A-47F3EB19D4E5}" destId="{C10E7B26-B693-40B0-B9CC-7FC1062D4AAB}" srcOrd="0" destOrd="0" presId="urn:microsoft.com/office/officeart/2016/7/layout/LinearArrowProcessNumbered"/>
    <dgm:cxn modelId="{51867C2B-1525-4727-8D5E-028AE4CF3625}" type="presOf" srcId="{2C14E79B-FA85-48B0-9438-3C53784A838A}" destId="{CB5A0BEA-E69B-45B7-AFBA-C505848EEA4D}" srcOrd="0" destOrd="0" presId="urn:microsoft.com/office/officeart/2016/7/layout/LinearArrowProcessNumbered"/>
    <dgm:cxn modelId="{C325AD30-A4FE-4968-A7E2-0F054C26B02B}" type="presOf" srcId="{F7CAFC14-E20A-462D-B571-F00DEBD47987}" destId="{27258C03-0723-40CD-920F-95B854F7F355}" srcOrd="0" destOrd="0" presId="urn:microsoft.com/office/officeart/2016/7/layout/LinearArrowProcessNumbered"/>
    <dgm:cxn modelId="{60A16B33-4201-4A7F-9B99-904ABAC6FD32}" type="presOf" srcId="{05F91C87-81D3-40FB-9711-0ED0DAD60D8C}" destId="{4506474D-300B-47C2-82AA-E9B43E022B5D}" srcOrd="0" destOrd="0" presId="urn:microsoft.com/office/officeart/2016/7/layout/LinearArrowProcessNumbered"/>
    <dgm:cxn modelId="{5648DD61-5BCB-40B0-8721-588989D28695}" type="presOf" srcId="{98AA4B48-BA02-4506-8BF2-07546187A9BF}" destId="{13C46686-0000-402D-B0B4-B5C84BF6026A}" srcOrd="0" destOrd="0" presId="urn:microsoft.com/office/officeart/2016/7/layout/LinearArrowProcessNumbered"/>
    <dgm:cxn modelId="{8185626C-FB95-4A32-984F-0A94D23291B0}" srcId="{05F91C87-81D3-40FB-9711-0ED0DAD60D8C}" destId="{0EE7FF0B-46C1-423D-B10B-E7EE2D42EC86}" srcOrd="3" destOrd="0" parTransId="{228E8086-ADF3-4B17-8DA9-22EF1D711AFD}" sibTransId="{CAD09257-F4BB-4860-929E-2150837AD95C}"/>
    <dgm:cxn modelId="{C87C1D79-5A84-4E0B-83F3-197AC7FF2648}" type="presOf" srcId="{FD3C7C13-3086-45A8-B5C9-9F90FE94BB01}" destId="{C6C46B14-5E33-44D9-88D0-D97474E6D036}" srcOrd="0" destOrd="0" presId="urn:microsoft.com/office/officeart/2016/7/layout/LinearArrowProcessNumbered"/>
    <dgm:cxn modelId="{621BBC93-3BE2-41A3-A0B0-B0D9080BACEC}" srcId="{05F91C87-81D3-40FB-9711-0ED0DAD60D8C}" destId="{4A173B6D-2F16-4914-9DD4-889E9792BBFD}" srcOrd="1" destOrd="0" parTransId="{D97DFD7F-FC00-4AF1-82EB-FC417B564A6F}" sibTransId="{F7CAFC14-E20A-462D-B571-F00DEBD47987}"/>
    <dgm:cxn modelId="{7F2298A7-F5D8-4440-AE85-E5033D93BD2F}" srcId="{05F91C87-81D3-40FB-9711-0ED0DAD60D8C}" destId="{98AA4B48-BA02-4506-8BF2-07546187A9BF}" srcOrd="0" destOrd="0" parTransId="{C7124CF5-72B0-44C1-A3A2-835FE5C159C8}" sibTransId="{150FF648-2C9A-451E-89E7-FF785CCBBCF4}"/>
    <dgm:cxn modelId="{39E2BCB9-9178-45E5-9600-1D3EFDEF92F5}" srcId="{05F91C87-81D3-40FB-9711-0ED0DAD60D8C}" destId="{FAEA66A5-EAC5-4831-BD6C-A549D7487E7E}" srcOrd="2" destOrd="0" parTransId="{CD1FCFAA-6CC9-4EA1-A15A-7D0BE044D5E0}" sibTransId="{6D715AD1-8462-456E-977A-47F3EB19D4E5}"/>
    <dgm:cxn modelId="{7FEB9AC4-A299-49B9-92FF-975471EFAE67}" srcId="{05F91C87-81D3-40FB-9711-0ED0DAD60D8C}" destId="{2C14E79B-FA85-48B0-9438-3C53784A838A}" srcOrd="4" destOrd="0" parTransId="{7A48EED0-DB74-4CB8-9F4D-CCFCE3D0E415}" sibTransId="{FD3C7C13-3086-45A8-B5C9-9F90FE94BB01}"/>
    <dgm:cxn modelId="{F51ADFDA-DFDD-4383-857D-B6B3F106A291}" type="presOf" srcId="{FAEA66A5-EAC5-4831-BD6C-A549D7487E7E}" destId="{AF16DDF6-0371-46EB-91FE-C27054DBEB8C}" srcOrd="0" destOrd="0" presId="urn:microsoft.com/office/officeart/2016/7/layout/LinearArrowProcessNumbered"/>
    <dgm:cxn modelId="{78A13AE5-29AF-40A9-AE30-0220A56E8D66}" type="presOf" srcId="{150FF648-2C9A-451E-89E7-FF785CCBBCF4}" destId="{832C4FDF-B655-477B-AD77-B96916EA0CD6}" srcOrd="0" destOrd="0" presId="urn:microsoft.com/office/officeart/2016/7/layout/LinearArrowProcessNumbered"/>
    <dgm:cxn modelId="{655823EC-9370-4053-9137-ACBCD31E5A9A}" type="presOf" srcId="{CAD09257-F4BB-4860-929E-2150837AD95C}" destId="{A2DCE6F1-2F98-482E-A0B3-DC1F6CEF06CF}" srcOrd="0" destOrd="0" presId="urn:microsoft.com/office/officeart/2016/7/layout/LinearArrowProcessNumbered"/>
    <dgm:cxn modelId="{358ABFFF-11C8-4A70-93DF-DB34456B1E21}" type="presOf" srcId="{4A173B6D-2F16-4914-9DD4-889E9792BBFD}" destId="{94E50F23-492B-4B3E-991A-929593069859}" srcOrd="0" destOrd="0" presId="urn:microsoft.com/office/officeart/2016/7/layout/LinearArrowProcessNumbered"/>
    <dgm:cxn modelId="{C1607011-4ADB-404D-ADFA-BEA94E710F5A}" type="presParOf" srcId="{4506474D-300B-47C2-82AA-E9B43E022B5D}" destId="{8EA0ED16-78E9-401A-B5EC-442D06C69DA5}" srcOrd="0" destOrd="0" presId="urn:microsoft.com/office/officeart/2016/7/layout/LinearArrowProcessNumbered"/>
    <dgm:cxn modelId="{8E5D2417-72A7-4094-9B3F-C8B000D1981E}" type="presParOf" srcId="{8EA0ED16-78E9-401A-B5EC-442D06C69DA5}" destId="{2EE06980-FB86-4A39-AF30-C03F17329222}" srcOrd="0" destOrd="0" presId="urn:microsoft.com/office/officeart/2016/7/layout/LinearArrowProcessNumbered"/>
    <dgm:cxn modelId="{BC497E64-B00C-49DA-A337-79831DB63BE8}" type="presParOf" srcId="{8EA0ED16-78E9-401A-B5EC-442D06C69DA5}" destId="{21227043-9BFA-4C8C-9B94-A6C214C8351E}" srcOrd="1" destOrd="0" presId="urn:microsoft.com/office/officeart/2016/7/layout/LinearArrowProcessNumbered"/>
    <dgm:cxn modelId="{2652A461-88A5-4D54-8810-227BA5EDA20F}" type="presParOf" srcId="{21227043-9BFA-4C8C-9B94-A6C214C8351E}" destId="{56A76776-CFAD-49E4-9E60-04FBE48BDB0D}" srcOrd="0" destOrd="0" presId="urn:microsoft.com/office/officeart/2016/7/layout/LinearArrowProcessNumbered"/>
    <dgm:cxn modelId="{F569D4AA-95E9-45AB-B535-F472818169F3}" type="presParOf" srcId="{21227043-9BFA-4C8C-9B94-A6C214C8351E}" destId="{8EFA8863-C6F5-4135-93D9-3712D0FBE7E4}" srcOrd="1" destOrd="0" presId="urn:microsoft.com/office/officeart/2016/7/layout/LinearArrowProcessNumbered"/>
    <dgm:cxn modelId="{97AFEDD5-287B-402A-B1F3-5ACF1A802621}" type="presParOf" srcId="{21227043-9BFA-4C8C-9B94-A6C214C8351E}" destId="{832C4FDF-B655-477B-AD77-B96916EA0CD6}" srcOrd="2" destOrd="0" presId="urn:microsoft.com/office/officeart/2016/7/layout/LinearArrowProcessNumbered"/>
    <dgm:cxn modelId="{FE712714-E73E-48C5-8DD4-F93184661EF6}" type="presParOf" srcId="{21227043-9BFA-4C8C-9B94-A6C214C8351E}" destId="{DAC28361-1115-40BA-B9CD-7058006E5009}" srcOrd="3" destOrd="0" presId="urn:microsoft.com/office/officeart/2016/7/layout/LinearArrowProcessNumbered"/>
    <dgm:cxn modelId="{6F8CFCB0-8649-4B40-BC64-FAC138315C25}" type="presParOf" srcId="{8EA0ED16-78E9-401A-B5EC-442D06C69DA5}" destId="{13C46686-0000-402D-B0B4-B5C84BF6026A}" srcOrd="2" destOrd="0" presId="urn:microsoft.com/office/officeart/2016/7/layout/LinearArrowProcessNumbered"/>
    <dgm:cxn modelId="{04D90890-A7EC-48EC-9B9F-DAAA7AB7CF22}" type="presParOf" srcId="{4506474D-300B-47C2-82AA-E9B43E022B5D}" destId="{A35DD404-8EA5-4BC4-A504-E0E8830EF10F}" srcOrd="1" destOrd="0" presId="urn:microsoft.com/office/officeart/2016/7/layout/LinearArrowProcessNumbered"/>
    <dgm:cxn modelId="{D75646C7-8608-4721-95EA-A0A3291EA326}" type="presParOf" srcId="{4506474D-300B-47C2-82AA-E9B43E022B5D}" destId="{4C2EA330-EAA7-4950-AD4E-B5D6C4E62D4C}" srcOrd="2" destOrd="0" presId="urn:microsoft.com/office/officeart/2016/7/layout/LinearArrowProcessNumbered"/>
    <dgm:cxn modelId="{9FE4E115-2886-4091-90D4-B784CF3747BD}" type="presParOf" srcId="{4C2EA330-EAA7-4950-AD4E-B5D6C4E62D4C}" destId="{C4A19B83-EBF6-4FC0-BA4F-29C747A97703}" srcOrd="0" destOrd="0" presId="urn:microsoft.com/office/officeart/2016/7/layout/LinearArrowProcessNumbered"/>
    <dgm:cxn modelId="{15E4B293-620F-4E9B-A899-2C35FB14C177}" type="presParOf" srcId="{4C2EA330-EAA7-4950-AD4E-B5D6C4E62D4C}" destId="{8435048B-4806-4C5B-87AF-76F61804D673}" srcOrd="1" destOrd="0" presId="urn:microsoft.com/office/officeart/2016/7/layout/LinearArrowProcessNumbered"/>
    <dgm:cxn modelId="{D80B2D8A-E749-4241-BA0A-4C6F1EB86B94}" type="presParOf" srcId="{8435048B-4806-4C5B-87AF-76F61804D673}" destId="{E6A96800-565E-498F-934D-A83AA752F6B5}" srcOrd="0" destOrd="0" presId="urn:microsoft.com/office/officeart/2016/7/layout/LinearArrowProcessNumbered"/>
    <dgm:cxn modelId="{4C58E808-04DA-416B-85C7-443BA5E6C7CD}" type="presParOf" srcId="{8435048B-4806-4C5B-87AF-76F61804D673}" destId="{F30A0199-E02E-4A55-99ED-18C6A076E324}" srcOrd="1" destOrd="0" presId="urn:microsoft.com/office/officeart/2016/7/layout/LinearArrowProcessNumbered"/>
    <dgm:cxn modelId="{26E36787-96F7-4DE8-A7DF-3DF907811594}" type="presParOf" srcId="{8435048B-4806-4C5B-87AF-76F61804D673}" destId="{27258C03-0723-40CD-920F-95B854F7F355}" srcOrd="2" destOrd="0" presId="urn:microsoft.com/office/officeart/2016/7/layout/LinearArrowProcessNumbered"/>
    <dgm:cxn modelId="{E5459F35-8588-4A42-B586-635311C82025}" type="presParOf" srcId="{8435048B-4806-4C5B-87AF-76F61804D673}" destId="{C18FF209-A24D-4D17-B554-B14D9449A5E0}" srcOrd="3" destOrd="0" presId="urn:microsoft.com/office/officeart/2016/7/layout/LinearArrowProcessNumbered"/>
    <dgm:cxn modelId="{5F12C045-A316-4A87-9AE3-F15F7D5C4EA2}" type="presParOf" srcId="{4C2EA330-EAA7-4950-AD4E-B5D6C4E62D4C}" destId="{94E50F23-492B-4B3E-991A-929593069859}" srcOrd="2" destOrd="0" presId="urn:microsoft.com/office/officeart/2016/7/layout/LinearArrowProcessNumbered"/>
    <dgm:cxn modelId="{F3104453-A6F2-4DE4-ACB6-0344002D0316}" type="presParOf" srcId="{4506474D-300B-47C2-82AA-E9B43E022B5D}" destId="{846EAC33-8776-48C4-AEFD-ED5197E17ACF}" srcOrd="3" destOrd="0" presId="urn:microsoft.com/office/officeart/2016/7/layout/LinearArrowProcessNumbered"/>
    <dgm:cxn modelId="{4E790D22-A175-4C3C-8D7D-AF7D47EAF904}" type="presParOf" srcId="{4506474D-300B-47C2-82AA-E9B43E022B5D}" destId="{061EDDBD-82DB-4098-B1C6-F83E39AFB51D}" srcOrd="4" destOrd="0" presId="urn:microsoft.com/office/officeart/2016/7/layout/LinearArrowProcessNumbered"/>
    <dgm:cxn modelId="{458E5970-7F6C-43D7-BD73-263740E1AC4E}" type="presParOf" srcId="{061EDDBD-82DB-4098-B1C6-F83E39AFB51D}" destId="{9F97F30C-1A0A-48E1-B692-0D6275C30FC1}" srcOrd="0" destOrd="0" presId="urn:microsoft.com/office/officeart/2016/7/layout/LinearArrowProcessNumbered"/>
    <dgm:cxn modelId="{3E7848D4-989F-46D9-999E-501128D16768}" type="presParOf" srcId="{061EDDBD-82DB-4098-B1C6-F83E39AFB51D}" destId="{DA62CF91-A13F-4066-BA5F-B50D8B1086E4}" srcOrd="1" destOrd="0" presId="urn:microsoft.com/office/officeart/2016/7/layout/LinearArrowProcessNumbered"/>
    <dgm:cxn modelId="{18293B3A-0085-4F8A-89DD-210E4E6BF6DD}" type="presParOf" srcId="{DA62CF91-A13F-4066-BA5F-B50D8B1086E4}" destId="{71476FC0-AB93-4AF3-963F-1D7A444870A6}" srcOrd="0" destOrd="0" presId="urn:microsoft.com/office/officeart/2016/7/layout/LinearArrowProcessNumbered"/>
    <dgm:cxn modelId="{FE820553-907F-43D2-93C6-CC6E6E0CE146}" type="presParOf" srcId="{DA62CF91-A13F-4066-BA5F-B50D8B1086E4}" destId="{6980B35A-A296-4068-861F-1C1E5BBA905C}" srcOrd="1" destOrd="0" presId="urn:microsoft.com/office/officeart/2016/7/layout/LinearArrowProcessNumbered"/>
    <dgm:cxn modelId="{343753D7-F487-4A04-B056-B28925AB6813}" type="presParOf" srcId="{DA62CF91-A13F-4066-BA5F-B50D8B1086E4}" destId="{C10E7B26-B693-40B0-B9CC-7FC1062D4AAB}" srcOrd="2" destOrd="0" presId="urn:microsoft.com/office/officeart/2016/7/layout/LinearArrowProcessNumbered"/>
    <dgm:cxn modelId="{1268C78F-905A-44D7-AF3D-FDE70781BC22}" type="presParOf" srcId="{DA62CF91-A13F-4066-BA5F-B50D8B1086E4}" destId="{9D1DF438-CD30-4352-AD48-8C4700F540E6}" srcOrd="3" destOrd="0" presId="urn:microsoft.com/office/officeart/2016/7/layout/LinearArrowProcessNumbered"/>
    <dgm:cxn modelId="{648CF7ED-D404-4FD0-9E50-B52D7A4F3A80}" type="presParOf" srcId="{061EDDBD-82DB-4098-B1C6-F83E39AFB51D}" destId="{AF16DDF6-0371-46EB-91FE-C27054DBEB8C}" srcOrd="2" destOrd="0" presId="urn:microsoft.com/office/officeart/2016/7/layout/LinearArrowProcessNumbered"/>
    <dgm:cxn modelId="{41576D16-CF42-40BC-9F88-204BF7D1C790}" type="presParOf" srcId="{4506474D-300B-47C2-82AA-E9B43E022B5D}" destId="{5807799B-69AC-4220-AA0E-80EC1FD1DDC8}" srcOrd="5" destOrd="0" presId="urn:microsoft.com/office/officeart/2016/7/layout/LinearArrowProcessNumbered"/>
    <dgm:cxn modelId="{5D2F0549-5F1C-4093-B8E4-605699E326E3}" type="presParOf" srcId="{4506474D-300B-47C2-82AA-E9B43E022B5D}" destId="{16BBC841-2FFB-44EB-A5A7-1E53378C9B3B}" srcOrd="6" destOrd="0" presId="urn:microsoft.com/office/officeart/2016/7/layout/LinearArrowProcessNumbered"/>
    <dgm:cxn modelId="{15554940-F96D-48D9-BB4B-6DA2F2CBEB38}" type="presParOf" srcId="{16BBC841-2FFB-44EB-A5A7-1E53378C9B3B}" destId="{3F7CB9AD-7F03-4EE6-BAEC-6E5B88000F95}" srcOrd="0" destOrd="0" presId="urn:microsoft.com/office/officeart/2016/7/layout/LinearArrowProcessNumbered"/>
    <dgm:cxn modelId="{17B25A79-A6E1-47D8-8CF5-8D37EA293592}" type="presParOf" srcId="{16BBC841-2FFB-44EB-A5A7-1E53378C9B3B}" destId="{B7F089B1-5B92-499F-A8CE-430BDF805307}" srcOrd="1" destOrd="0" presId="urn:microsoft.com/office/officeart/2016/7/layout/LinearArrowProcessNumbered"/>
    <dgm:cxn modelId="{1617FCBB-8C9C-48D2-90D4-42E872C35F43}" type="presParOf" srcId="{B7F089B1-5B92-499F-A8CE-430BDF805307}" destId="{C0D323F1-4F59-43D8-8038-30D19F6C8F74}" srcOrd="0" destOrd="0" presId="urn:microsoft.com/office/officeart/2016/7/layout/LinearArrowProcessNumbered"/>
    <dgm:cxn modelId="{9EAC99F9-475E-4BD0-AA31-3ABEE40BB164}" type="presParOf" srcId="{B7F089B1-5B92-499F-A8CE-430BDF805307}" destId="{7384D888-C94C-4F34-BA0E-7A406E3CDF4E}" srcOrd="1" destOrd="0" presId="urn:microsoft.com/office/officeart/2016/7/layout/LinearArrowProcessNumbered"/>
    <dgm:cxn modelId="{BB46DF79-3F1C-45BE-AA6C-7D65035B5D42}" type="presParOf" srcId="{B7F089B1-5B92-499F-A8CE-430BDF805307}" destId="{A2DCE6F1-2F98-482E-A0B3-DC1F6CEF06CF}" srcOrd="2" destOrd="0" presId="urn:microsoft.com/office/officeart/2016/7/layout/LinearArrowProcessNumbered"/>
    <dgm:cxn modelId="{76ADB153-8F57-4704-9F65-EC9FDF346C48}" type="presParOf" srcId="{B7F089B1-5B92-499F-A8CE-430BDF805307}" destId="{9361E4D0-E8BE-45E2-8019-E7B44D94F3FB}" srcOrd="3" destOrd="0" presId="urn:microsoft.com/office/officeart/2016/7/layout/LinearArrowProcessNumbered"/>
    <dgm:cxn modelId="{A90542C7-B762-4A05-AFB5-8CD9166FABA3}" type="presParOf" srcId="{16BBC841-2FFB-44EB-A5A7-1E53378C9B3B}" destId="{120F277F-A62D-48F8-BA53-39D8F3FDFF39}" srcOrd="2" destOrd="0" presId="urn:microsoft.com/office/officeart/2016/7/layout/LinearArrowProcessNumbered"/>
    <dgm:cxn modelId="{E774841F-AF26-47C1-9EA9-2EA090894BBC}" type="presParOf" srcId="{4506474D-300B-47C2-82AA-E9B43E022B5D}" destId="{1723C65B-7A25-4DEA-B916-FB5504EFD155}" srcOrd="7" destOrd="0" presId="urn:microsoft.com/office/officeart/2016/7/layout/LinearArrowProcessNumbered"/>
    <dgm:cxn modelId="{A08766A7-414D-41FE-B1CD-C7BD4F0EAED8}" type="presParOf" srcId="{4506474D-300B-47C2-82AA-E9B43E022B5D}" destId="{C1E21233-F217-4BB9-9567-196114205338}" srcOrd="8" destOrd="0" presId="urn:microsoft.com/office/officeart/2016/7/layout/LinearArrowProcessNumbered"/>
    <dgm:cxn modelId="{10C0AA51-4CB4-4BC2-8CCD-9C3CA2DC9587}" type="presParOf" srcId="{C1E21233-F217-4BB9-9567-196114205338}" destId="{4C6DAC68-D9FA-4BDA-AC01-D890EA14F5C0}" srcOrd="0" destOrd="0" presId="urn:microsoft.com/office/officeart/2016/7/layout/LinearArrowProcessNumbered"/>
    <dgm:cxn modelId="{9480BDDF-04D9-49DD-8B60-EA834047CD02}" type="presParOf" srcId="{C1E21233-F217-4BB9-9567-196114205338}" destId="{ABDFAC18-17E0-43CD-8677-E837F54F53AB}" srcOrd="1" destOrd="0" presId="urn:microsoft.com/office/officeart/2016/7/layout/LinearArrowProcessNumbered"/>
    <dgm:cxn modelId="{6BD575BB-A38B-4A57-8137-72D572F97B90}" type="presParOf" srcId="{ABDFAC18-17E0-43CD-8677-E837F54F53AB}" destId="{FF71999A-9329-41CA-B560-DEB4146837A4}" srcOrd="0" destOrd="0" presId="urn:microsoft.com/office/officeart/2016/7/layout/LinearArrowProcessNumbered"/>
    <dgm:cxn modelId="{DD69CA67-5481-44A3-AFC3-4AF893981E8D}" type="presParOf" srcId="{ABDFAC18-17E0-43CD-8677-E837F54F53AB}" destId="{6C177568-3714-4CA7-B35A-283988BAA8E9}" srcOrd="1" destOrd="0" presId="urn:microsoft.com/office/officeart/2016/7/layout/LinearArrowProcessNumbered"/>
    <dgm:cxn modelId="{52D4487A-508F-4496-B1AD-9D03D663FB28}" type="presParOf" srcId="{ABDFAC18-17E0-43CD-8677-E837F54F53AB}" destId="{C6C46B14-5E33-44D9-88D0-D97474E6D036}" srcOrd="2" destOrd="0" presId="urn:microsoft.com/office/officeart/2016/7/layout/LinearArrowProcessNumbered"/>
    <dgm:cxn modelId="{02729717-480C-43FF-90D2-0D763C5CE69B}" type="presParOf" srcId="{ABDFAC18-17E0-43CD-8677-E837F54F53AB}" destId="{02B408BA-A2AD-4E2A-A669-78BDD7527B55}" srcOrd="3" destOrd="0" presId="urn:microsoft.com/office/officeart/2016/7/layout/LinearArrowProcessNumbered"/>
    <dgm:cxn modelId="{E6F3FEB0-7E5D-4954-8B66-022CE4EFE3B1}" type="presParOf" srcId="{C1E21233-F217-4BB9-9567-196114205338}" destId="{CB5A0BEA-E69B-45B7-AFBA-C505848EEA4D}"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7E059B-38C3-43D4-9547-AD8409A785E0}">
      <dsp:nvSpPr>
        <dsp:cNvPr id="0" name=""/>
        <dsp:cNvSpPr/>
      </dsp:nvSpPr>
      <dsp:spPr>
        <a:xfrm>
          <a:off x="376883" y="3059"/>
          <a:ext cx="2971966" cy="178317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latin typeface="Calibri"/>
              <a:ea typeface="Calibri"/>
              <a:cs typeface="Calibri"/>
            </a:rPr>
            <a:t>Total Revenue: ₹71.79M &amp; Revenue Growth (MoM): 42.53%</a:t>
          </a:r>
          <a:endParaRPr lang="en-US" sz="2400" b="0" kern="1200" dirty="0">
            <a:latin typeface="Calibri"/>
            <a:ea typeface="Calibri"/>
            <a:cs typeface="Calibri"/>
          </a:endParaRPr>
        </a:p>
      </dsp:txBody>
      <dsp:txXfrm>
        <a:off x="376883" y="3059"/>
        <a:ext cx="2971966" cy="1783179"/>
      </dsp:txXfrm>
    </dsp:sp>
    <dsp:sp modelId="{3F4F764B-840F-43D0-9DCE-9A8476499960}">
      <dsp:nvSpPr>
        <dsp:cNvPr id="0" name=""/>
        <dsp:cNvSpPr/>
      </dsp:nvSpPr>
      <dsp:spPr>
        <a:xfrm>
          <a:off x="3646046" y="3059"/>
          <a:ext cx="2971966" cy="178317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b="1" kern="1200" dirty="0">
              <a:latin typeface="Calibri"/>
              <a:ea typeface="Calibri"/>
              <a:cs typeface="Calibri"/>
            </a:rPr>
            <a:t>Count of Order: 128,943</a:t>
          </a:r>
          <a:endParaRPr lang="en-US" sz="3400" kern="1200" dirty="0">
            <a:latin typeface="Calibri"/>
            <a:ea typeface="Calibri"/>
            <a:cs typeface="Calibri"/>
          </a:endParaRPr>
        </a:p>
      </dsp:txBody>
      <dsp:txXfrm>
        <a:off x="3646046" y="3059"/>
        <a:ext cx="2971966" cy="1783179"/>
      </dsp:txXfrm>
    </dsp:sp>
    <dsp:sp modelId="{4F1A1023-B227-4151-81C2-C948F4F85B6D}">
      <dsp:nvSpPr>
        <dsp:cNvPr id="0" name=""/>
        <dsp:cNvSpPr/>
      </dsp:nvSpPr>
      <dsp:spPr>
        <a:xfrm>
          <a:off x="6915209" y="3059"/>
          <a:ext cx="2971966" cy="178317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b="1" kern="1200" dirty="0">
              <a:latin typeface="Calibri"/>
              <a:ea typeface="Calibri"/>
              <a:cs typeface="Calibri"/>
            </a:rPr>
            <a:t>On-Time Delivery Rate: 22.31%</a:t>
          </a:r>
          <a:endParaRPr lang="en-US" sz="3400" kern="1200" dirty="0">
            <a:latin typeface="Calibri"/>
            <a:ea typeface="Calibri"/>
            <a:cs typeface="Calibri"/>
          </a:endParaRPr>
        </a:p>
      </dsp:txBody>
      <dsp:txXfrm>
        <a:off x="6915209" y="3059"/>
        <a:ext cx="2971966" cy="1783179"/>
      </dsp:txXfrm>
    </dsp:sp>
    <dsp:sp modelId="{31C59513-D33B-4611-9F5F-260147E77F6C}">
      <dsp:nvSpPr>
        <dsp:cNvPr id="0" name=""/>
        <dsp:cNvSpPr/>
      </dsp:nvSpPr>
      <dsp:spPr>
        <a:xfrm>
          <a:off x="2011464" y="2083436"/>
          <a:ext cx="2971966" cy="178317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b="1" kern="1200" dirty="0">
              <a:latin typeface="Calibri"/>
              <a:ea typeface="Calibri"/>
              <a:cs typeface="Calibri"/>
            </a:rPr>
            <a:t>Average Order Value:</a:t>
          </a:r>
          <a:r>
            <a:rPr lang="en-US" sz="3400" b="1" kern="1200" dirty="0">
              <a:solidFill>
                <a:schemeClr val="tx1"/>
              </a:solidFill>
              <a:latin typeface="Calibri"/>
              <a:ea typeface="Calibri"/>
              <a:cs typeface="Calibri"/>
            </a:rPr>
            <a:t> ₹596.50</a:t>
          </a:r>
          <a:endParaRPr lang="en-US" sz="3400" kern="1200" dirty="0">
            <a:solidFill>
              <a:schemeClr val="tx1"/>
            </a:solidFill>
            <a:latin typeface="Calibri"/>
            <a:ea typeface="Calibri"/>
            <a:cs typeface="Calibri"/>
          </a:endParaRPr>
        </a:p>
      </dsp:txBody>
      <dsp:txXfrm>
        <a:off x="2011464" y="2083436"/>
        <a:ext cx="2971966" cy="1783179"/>
      </dsp:txXfrm>
    </dsp:sp>
    <dsp:sp modelId="{F6331620-B8B9-4A54-8A1C-BD4E27C092BD}">
      <dsp:nvSpPr>
        <dsp:cNvPr id="0" name=""/>
        <dsp:cNvSpPr/>
      </dsp:nvSpPr>
      <dsp:spPr>
        <a:xfrm>
          <a:off x="5280627" y="2083436"/>
          <a:ext cx="2971966" cy="178317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b="1" kern="1200" dirty="0">
              <a:latin typeface="Calibri"/>
              <a:ea typeface="Calibri"/>
              <a:cs typeface="Calibri"/>
            </a:rPr>
            <a:t>Cancellation Rate: 14.22%</a:t>
          </a:r>
          <a:endParaRPr lang="en-US" sz="3400" kern="1200" dirty="0">
            <a:latin typeface="Calibri"/>
            <a:ea typeface="Calibri"/>
            <a:cs typeface="Calibri"/>
          </a:endParaRPr>
        </a:p>
      </dsp:txBody>
      <dsp:txXfrm>
        <a:off x="5280627" y="2083436"/>
        <a:ext cx="2971966" cy="17831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A76776-CFAD-49E4-9E60-04FBE48BDB0D}">
      <dsp:nvSpPr>
        <dsp:cNvPr id="0" name=""/>
        <dsp:cNvSpPr/>
      </dsp:nvSpPr>
      <dsp:spPr>
        <a:xfrm>
          <a:off x="996981" y="395131"/>
          <a:ext cx="796612"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EFA8863-C6F5-4135-93D9-3712D0FBE7E4}">
      <dsp:nvSpPr>
        <dsp:cNvPr id="0" name=""/>
        <dsp:cNvSpPr/>
      </dsp:nvSpPr>
      <dsp:spPr>
        <a:xfrm>
          <a:off x="1841390" y="328251"/>
          <a:ext cx="91610" cy="172068"/>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32C4FDF-B655-477B-AD77-B96916EA0CD6}">
      <dsp:nvSpPr>
        <dsp:cNvPr id="0" name=""/>
        <dsp:cNvSpPr/>
      </dsp:nvSpPr>
      <dsp:spPr>
        <a:xfrm>
          <a:off x="502237" y="0"/>
          <a:ext cx="790334" cy="790334"/>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669" tIns="30669" rIns="30669" bIns="30669" numCol="1" spcCol="1270" anchor="ctr" anchorCtr="0">
          <a:noAutofit/>
        </a:bodyPr>
        <a:lstStyle/>
        <a:p>
          <a:pPr marL="0" lvl="0" indent="0" algn="ctr" defTabSz="1422400">
            <a:lnSpc>
              <a:spcPct val="90000"/>
            </a:lnSpc>
            <a:spcBef>
              <a:spcPct val="0"/>
            </a:spcBef>
            <a:spcAft>
              <a:spcPct val="35000"/>
            </a:spcAft>
            <a:buNone/>
          </a:pPr>
          <a:r>
            <a:rPr lang="en-US" sz="3200" kern="1200"/>
            <a:t>1</a:t>
          </a:r>
        </a:p>
      </dsp:txBody>
      <dsp:txXfrm>
        <a:off x="617979" y="115742"/>
        <a:ext cx="558850" cy="558850"/>
      </dsp:txXfrm>
    </dsp:sp>
    <dsp:sp modelId="{13C46686-0000-402D-B0B4-B5C84BF6026A}">
      <dsp:nvSpPr>
        <dsp:cNvPr id="0" name=""/>
        <dsp:cNvSpPr/>
      </dsp:nvSpPr>
      <dsp:spPr>
        <a:xfrm>
          <a:off x="1215" y="955934"/>
          <a:ext cx="1792377" cy="2041225"/>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1385" tIns="165100" rIns="141385" bIns="165100" numCol="1" spcCol="1270" anchor="t" anchorCtr="0">
          <a:noAutofit/>
        </a:bodyPr>
        <a:lstStyle/>
        <a:p>
          <a:pPr marL="0" lvl="0" indent="0" algn="l" defTabSz="488950" rtl="0">
            <a:lnSpc>
              <a:spcPct val="90000"/>
            </a:lnSpc>
            <a:spcBef>
              <a:spcPct val="0"/>
            </a:spcBef>
            <a:spcAft>
              <a:spcPct val="35000"/>
            </a:spcAft>
            <a:buNone/>
          </a:pPr>
          <a:r>
            <a:rPr lang="en-US" sz="1100" b="1" kern="1200">
              <a:latin typeface="Walbaum Display"/>
              <a:ea typeface="Calibri"/>
              <a:cs typeface="Calibri"/>
            </a:rPr>
            <a:t>Total</a:t>
          </a:r>
          <a:r>
            <a:rPr lang="en-US" sz="1100" b="1" kern="1200"/>
            <a:t> </a:t>
          </a:r>
          <a:r>
            <a:rPr lang="en-US" sz="1100" b="1" kern="1200">
              <a:latin typeface="Walbaum Display"/>
              <a:ea typeface="Calibri"/>
              <a:cs typeface="Calibri"/>
            </a:rPr>
            <a:t>Revenue + Revenue</a:t>
          </a:r>
          <a:r>
            <a:rPr lang="en-US" sz="1100" b="1" kern="1200"/>
            <a:t> Growth (MoM</a:t>
          </a:r>
          <a:r>
            <a:rPr lang="en-US" sz="1100" b="1" kern="1200">
              <a:latin typeface="Walbaum Display"/>
            </a:rPr>
            <a:t>):</a:t>
          </a:r>
          <a:r>
            <a:rPr lang="en-US" sz="1100" b="0" kern="1200">
              <a:latin typeface="Walbaum Display"/>
            </a:rPr>
            <a:t> </a:t>
          </a:r>
          <a:r>
            <a:rPr lang="en-US" sz="1100" kern="1200"/>
            <a:t>Shows how much money the company earned and the month-over-month growth trend. Helps understand overall financial performance and business scaling.</a:t>
          </a:r>
          <a:endParaRPr lang="en-US" sz="1100" b="1" kern="1200">
            <a:latin typeface="Walbaum Display"/>
          </a:endParaRPr>
        </a:p>
      </dsp:txBody>
      <dsp:txXfrm>
        <a:off x="1215" y="1314409"/>
        <a:ext cx="1792377" cy="1682750"/>
      </dsp:txXfrm>
    </dsp:sp>
    <dsp:sp modelId="{E6A96800-565E-498F-934D-A83AA752F6B5}">
      <dsp:nvSpPr>
        <dsp:cNvPr id="0" name=""/>
        <dsp:cNvSpPr/>
      </dsp:nvSpPr>
      <dsp:spPr>
        <a:xfrm>
          <a:off x="1992746" y="395131"/>
          <a:ext cx="1792377"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0A0199-E02E-4A55-99ED-18C6A076E324}">
      <dsp:nvSpPr>
        <dsp:cNvPr id="0" name=""/>
        <dsp:cNvSpPr/>
      </dsp:nvSpPr>
      <dsp:spPr>
        <a:xfrm>
          <a:off x="3832920" y="328251"/>
          <a:ext cx="91610" cy="172068"/>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7258C03-0723-40CD-920F-95B854F7F355}">
      <dsp:nvSpPr>
        <dsp:cNvPr id="0" name=""/>
        <dsp:cNvSpPr/>
      </dsp:nvSpPr>
      <dsp:spPr>
        <a:xfrm>
          <a:off x="2493767" y="0"/>
          <a:ext cx="790334" cy="790334"/>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669" tIns="30669" rIns="30669" bIns="30669" numCol="1" spcCol="1270" anchor="ctr" anchorCtr="0">
          <a:noAutofit/>
        </a:bodyPr>
        <a:lstStyle/>
        <a:p>
          <a:pPr marL="0" lvl="0" indent="0" algn="ctr" defTabSz="1422400">
            <a:lnSpc>
              <a:spcPct val="90000"/>
            </a:lnSpc>
            <a:spcBef>
              <a:spcPct val="0"/>
            </a:spcBef>
            <a:spcAft>
              <a:spcPct val="35000"/>
            </a:spcAft>
            <a:buNone/>
          </a:pPr>
          <a:r>
            <a:rPr lang="en-US" sz="3200" kern="1200"/>
            <a:t>2</a:t>
          </a:r>
        </a:p>
      </dsp:txBody>
      <dsp:txXfrm>
        <a:off x="2609509" y="115742"/>
        <a:ext cx="558850" cy="558850"/>
      </dsp:txXfrm>
    </dsp:sp>
    <dsp:sp modelId="{94E50F23-492B-4B3E-991A-929593069859}">
      <dsp:nvSpPr>
        <dsp:cNvPr id="0" name=""/>
        <dsp:cNvSpPr/>
      </dsp:nvSpPr>
      <dsp:spPr>
        <a:xfrm>
          <a:off x="1992746" y="955934"/>
          <a:ext cx="1792377" cy="2041225"/>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1385" tIns="165100" rIns="141385" bIns="165100" numCol="1" spcCol="1270" anchor="t" anchorCtr="0">
          <a:noAutofit/>
        </a:bodyPr>
        <a:lstStyle/>
        <a:p>
          <a:pPr marL="0" lvl="0" indent="0" algn="l" defTabSz="488950">
            <a:lnSpc>
              <a:spcPct val="90000"/>
            </a:lnSpc>
            <a:spcBef>
              <a:spcPct val="0"/>
            </a:spcBef>
            <a:spcAft>
              <a:spcPct val="35000"/>
            </a:spcAft>
            <a:buNone/>
          </a:pPr>
          <a:r>
            <a:rPr lang="en-US" sz="1100" b="1" kern="1200" dirty="0"/>
            <a:t>Count of Order: </a:t>
          </a:r>
          <a:r>
            <a:rPr lang="en-US" sz="1100" kern="1200" dirty="0"/>
            <a:t>Measures the total number of orders over time. Indicates sales volume and customer demand trends.</a:t>
          </a:r>
        </a:p>
      </dsp:txBody>
      <dsp:txXfrm>
        <a:off x="1992746" y="1314409"/>
        <a:ext cx="1792377" cy="1682750"/>
      </dsp:txXfrm>
    </dsp:sp>
    <dsp:sp modelId="{71476FC0-AB93-4AF3-963F-1D7A444870A6}">
      <dsp:nvSpPr>
        <dsp:cNvPr id="0" name=""/>
        <dsp:cNvSpPr/>
      </dsp:nvSpPr>
      <dsp:spPr>
        <a:xfrm>
          <a:off x="3984277" y="395131"/>
          <a:ext cx="1792377"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980B35A-A296-4068-861F-1C1E5BBA905C}">
      <dsp:nvSpPr>
        <dsp:cNvPr id="0" name=""/>
        <dsp:cNvSpPr/>
      </dsp:nvSpPr>
      <dsp:spPr>
        <a:xfrm>
          <a:off x="5824451" y="328251"/>
          <a:ext cx="91610" cy="172068"/>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10E7B26-B693-40B0-B9CC-7FC1062D4AAB}">
      <dsp:nvSpPr>
        <dsp:cNvPr id="0" name=""/>
        <dsp:cNvSpPr/>
      </dsp:nvSpPr>
      <dsp:spPr>
        <a:xfrm>
          <a:off x="4485298" y="0"/>
          <a:ext cx="790334" cy="790334"/>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669" tIns="30669" rIns="30669" bIns="30669" numCol="1" spcCol="1270" anchor="ctr" anchorCtr="0">
          <a:noAutofit/>
        </a:bodyPr>
        <a:lstStyle/>
        <a:p>
          <a:pPr marL="0" lvl="0" indent="0" algn="ctr" defTabSz="1422400">
            <a:lnSpc>
              <a:spcPct val="90000"/>
            </a:lnSpc>
            <a:spcBef>
              <a:spcPct val="0"/>
            </a:spcBef>
            <a:spcAft>
              <a:spcPct val="35000"/>
            </a:spcAft>
            <a:buNone/>
          </a:pPr>
          <a:r>
            <a:rPr lang="en-US" sz="3200" kern="1200"/>
            <a:t>3</a:t>
          </a:r>
        </a:p>
      </dsp:txBody>
      <dsp:txXfrm>
        <a:off x="4601040" y="115742"/>
        <a:ext cx="558850" cy="558850"/>
      </dsp:txXfrm>
    </dsp:sp>
    <dsp:sp modelId="{AF16DDF6-0371-46EB-91FE-C27054DBEB8C}">
      <dsp:nvSpPr>
        <dsp:cNvPr id="0" name=""/>
        <dsp:cNvSpPr/>
      </dsp:nvSpPr>
      <dsp:spPr>
        <a:xfrm>
          <a:off x="3984277" y="955934"/>
          <a:ext cx="1792377" cy="2041225"/>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1385" tIns="165100" rIns="141385" bIns="165100" numCol="1" spcCol="1270" anchor="t" anchorCtr="0">
          <a:noAutofit/>
        </a:bodyPr>
        <a:lstStyle/>
        <a:p>
          <a:pPr marL="0" lvl="0" indent="0" algn="l" defTabSz="488950">
            <a:lnSpc>
              <a:spcPct val="90000"/>
            </a:lnSpc>
            <a:spcBef>
              <a:spcPct val="0"/>
            </a:spcBef>
            <a:spcAft>
              <a:spcPct val="35000"/>
            </a:spcAft>
            <a:buNone/>
          </a:pPr>
          <a:r>
            <a:rPr lang="en-US" sz="1100" b="1" kern="1200" dirty="0"/>
            <a:t>On-Time Delivery Rate:</a:t>
          </a:r>
          <a:r>
            <a:rPr lang="en-US" sz="1100" kern="1200" dirty="0"/>
            <a:t> Measures how many orders were delivered on time. Reflects logistics efficiency and fulfillment reliability.</a:t>
          </a:r>
        </a:p>
      </dsp:txBody>
      <dsp:txXfrm>
        <a:off x="3984277" y="1314409"/>
        <a:ext cx="1792377" cy="1682750"/>
      </dsp:txXfrm>
    </dsp:sp>
    <dsp:sp modelId="{C0D323F1-4F59-43D8-8038-30D19F6C8F74}">
      <dsp:nvSpPr>
        <dsp:cNvPr id="0" name=""/>
        <dsp:cNvSpPr/>
      </dsp:nvSpPr>
      <dsp:spPr>
        <a:xfrm>
          <a:off x="5975807" y="395131"/>
          <a:ext cx="1792377"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84D888-C94C-4F34-BA0E-7A406E3CDF4E}">
      <dsp:nvSpPr>
        <dsp:cNvPr id="0" name=""/>
        <dsp:cNvSpPr/>
      </dsp:nvSpPr>
      <dsp:spPr>
        <a:xfrm>
          <a:off x="7815982" y="328251"/>
          <a:ext cx="91610" cy="172068"/>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2DCE6F1-2F98-482E-A0B3-DC1F6CEF06CF}">
      <dsp:nvSpPr>
        <dsp:cNvPr id="0" name=""/>
        <dsp:cNvSpPr/>
      </dsp:nvSpPr>
      <dsp:spPr>
        <a:xfrm>
          <a:off x="6476829" y="0"/>
          <a:ext cx="790334" cy="790334"/>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669" tIns="30669" rIns="30669" bIns="30669" numCol="1" spcCol="1270" anchor="ctr" anchorCtr="0">
          <a:noAutofit/>
        </a:bodyPr>
        <a:lstStyle/>
        <a:p>
          <a:pPr marL="0" lvl="0" indent="0" algn="ctr" defTabSz="1422400">
            <a:lnSpc>
              <a:spcPct val="90000"/>
            </a:lnSpc>
            <a:spcBef>
              <a:spcPct val="0"/>
            </a:spcBef>
            <a:spcAft>
              <a:spcPct val="35000"/>
            </a:spcAft>
            <a:buNone/>
          </a:pPr>
          <a:r>
            <a:rPr lang="en-US" sz="3200" kern="1200"/>
            <a:t>4</a:t>
          </a:r>
        </a:p>
      </dsp:txBody>
      <dsp:txXfrm>
        <a:off x="6592571" y="115742"/>
        <a:ext cx="558850" cy="558850"/>
      </dsp:txXfrm>
    </dsp:sp>
    <dsp:sp modelId="{120F277F-A62D-48F8-BA53-39D8F3FDFF39}">
      <dsp:nvSpPr>
        <dsp:cNvPr id="0" name=""/>
        <dsp:cNvSpPr/>
      </dsp:nvSpPr>
      <dsp:spPr>
        <a:xfrm>
          <a:off x="5975807" y="955934"/>
          <a:ext cx="1792377" cy="2041225"/>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1385" tIns="165100" rIns="141385" bIns="165100" numCol="1" spcCol="1270" anchor="t" anchorCtr="0">
          <a:noAutofit/>
        </a:bodyPr>
        <a:lstStyle/>
        <a:p>
          <a:pPr marL="0" lvl="0" indent="0" algn="l" defTabSz="488950">
            <a:lnSpc>
              <a:spcPct val="90000"/>
            </a:lnSpc>
            <a:spcBef>
              <a:spcPct val="0"/>
            </a:spcBef>
            <a:spcAft>
              <a:spcPct val="35000"/>
            </a:spcAft>
            <a:buNone/>
          </a:pPr>
          <a:r>
            <a:rPr lang="en-US" sz="1100" b="1" kern="1200" dirty="0"/>
            <a:t>Average Order Value: </a:t>
          </a:r>
          <a:r>
            <a:rPr lang="en-US" sz="1100" kern="1200" dirty="0"/>
            <a:t>Helps understand customer spending behavior and product pricing effectiveness.</a:t>
          </a:r>
        </a:p>
      </dsp:txBody>
      <dsp:txXfrm>
        <a:off x="5975807" y="1314409"/>
        <a:ext cx="1792377" cy="1682750"/>
      </dsp:txXfrm>
    </dsp:sp>
    <dsp:sp modelId="{FF71999A-9329-41CA-B560-DEB4146837A4}">
      <dsp:nvSpPr>
        <dsp:cNvPr id="0" name=""/>
        <dsp:cNvSpPr/>
      </dsp:nvSpPr>
      <dsp:spPr>
        <a:xfrm>
          <a:off x="7967338" y="395131"/>
          <a:ext cx="896188"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6C46B14-5E33-44D9-88D0-D97474E6D036}">
      <dsp:nvSpPr>
        <dsp:cNvPr id="0" name=""/>
        <dsp:cNvSpPr/>
      </dsp:nvSpPr>
      <dsp:spPr>
        <a:xfrm>
          <a:off x="8468359" y="0"/>
          <a:ext cx="790334" cy="790334"/>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669" tIns="30669" rIns="30669" bIns="30669" numCol="1" spcCol="1270" anchor="ctr" anchorCtr="0">
          <a:noAutofit/>
        </a:bodyPr>
        <a:lstStyle/>
        <a:p>
          <a:pPr marL="0" lvl="0" indent="0" algn="ctr" defTabSz="1422400">
            <a:lnSpc>
              <a:spcPct val="90000"/>
            </a:lnSpc>
            <a:spcBef>
              <a:spcPct val="0"/>
            </a:spcBef>
            <a:spcAft>
              <a:spcPct val="35000"/>
            </a:spcAft>
            <a:buNone/>
          </a:pPr>
          <a:r>
            <a:rPr lang="en-US" sz="3200" kern="1200"/>
            <a:t>5</a:t>
          </a:r>
        </a:p>
      </dsp:txBody>
      <dsp:txXfrm>
        <a:off x="8584101" y="115742"/>
        <a:ext cx="558850" cy="558850"/>
      </dsp:txXfrm>
    </dsp:sp>
    <dsp:sp modelId="{CB5A0BEA-E69B-45B7-AFBA-C505848EEA4D}">
      <dsp:nvSpPr>
        <dsp:cNvPr id="0" name=""/>
        <dsp:cNvSpPr/>
      </dsp:nvSpPr>
      <dsp:spPr>
        <a:xfrm>
          <a:off x="7967338" y="955934"/>
          <a:ext cx="1792377" cy="2041225"/>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1385" tIns="165100" rIns="141385" bIns="165100" numCol="1" spcCol="1270" anchor="t" anchorCtr="0">
          <a:noAutofit/>
        </a:bodyPr>
        <a:lstStyle/>
        <a:p>
          <a:pPr marL="0" lvl="0" indent="0" algn="l" defTabSz="488950">
            <a:lnSpc>
              <a:spcPct val="90000"/>
            </a:lnSpc>
            <a:spcBef>
              <a:spcPct val="0"/>
            </a:spcBef>
            <a:spcAft>
              <a:spcPct val="35000"/>
            </a:spcAft>
            <a:buNone/>
          </a:pPr>
          <a:r>
            <a:rPr lang="en-US" sz="1100" b="1" kern="1200" dirty="0"/>
            <a:t>Cancellation Rate:</a:t>
          </a:r>
          <a:r>
            <a:rPr lang="en-US" sz="1100" kern="1200" dirty="0"/>
            <a:t> Percentage of orders that were canceled. Highlights operational challenges or customer dissatisfaction.</a:t>
          </a:r>
        </a:p>
      </dsp:txBody>
      <dsp:txXfrm>
        <a:off x="7967338" y="1314409"/>
        <a:ext cx="1792377" cy="168275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5CD60141-EEBD-4EC1-8E34-0344C16A18A2}"/>
              </a:ext>
              <a:ext uri="{C183D7F6-B498-43B3-948B-1728B52AA6E4}">
                <adec:decorative xmlns:adec="http://schemas.microsoft.com/office/drawing/2017/decorative" val="1"/>
              </a:ext>
            </a:extLst>
          </p:cNvPr>
          <p:cNvSpPr/>
          <p:nvPr/>
        </p:nvSpPr>
        <p:spPr>
          <a:xfrm>
            <a:off x="5318308" y="0"/>
            <a:ext cx="6873692" cy="6858000"/>
          </a:xfrm>
          <a:custGeom>
            <a:avLst/>
            <a:gdLst>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0 w 12192000"/>
              <a:gd name="connsiteY6" fmla="*/ 0 h 6858000"/>
              <a:gd name="connsiteX7" fmla="*/ 6700 w 12192000"/>
              <a:gd name="connsiteY7" fmla="*/ 0 h 6858000"/>
              <a:gd name="connsiteX8" fmla="*/ 6700 w 12192000"/>
              <a:gd name="connsiteY8" fmla="*/ 6858000 h 6858000"/>
              <a:gd name="connsiteX9" fmla="*/ 0 w 12192000"/>
              <a:gd name="connsiteY9" fmla="*/ 6858000 h 6858000"/>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11328900 w 12192000"/>
              <a:gd name="connsiteY6" fmla="*/ 0 h 6858000"/>
              <a:gd name="connsiteX7" fmla="*/ 0 w 12192000"/>
              <a:gd name="connsiteY7" fmla="*/ 6858000 h 6858000"/>
              <a:gd name="connsiteX8" fmla="*/ 6700 w 12192000"/>
              <a:gd name="connsiteY8" fmla="*/ 0 h 6858000"/>
              <a:gd name="connsiteX9" fmla="*/ 6700 w 12192000"/>
              <a:gd name="connsiteY9" fmla="*/ 6858000 h 6858000"/>
              <a:gd name="connsiteX10" fmla="*/ 0 w 12192000"/>
              <a:gd name="connsiteY10" fmla="*/ 6858000 h 6858000"/>
              <a:gd name="connsiteX0" fmla="*/ 11322200 w 12185300"/>
              <a:gd name="connsiteY0" fmla="*/ 0 h 6858000"/>
              <a:gd name="connsiteX1" fmla="*/ 12185300 w 12185300"/>
              <a:gd name="connsiteY1" fmla="*/ 0 h 6858000"/>
              <a:gd name="connsiteX2" fmla="*/ 12185300 w 12185300"/>
              <a:gd name="connsiteY2" fmla="*/ 6858000 h 6858000"/>
              <a:gd name="connsiteX3" fmla="*/ 5311608 w 12185300"/>
              <a:gd name="connsiteY3" fmla="*/ 6858000 h 6858000"/>
              <a:gd name="connsiteX4" fmla="*/ 11322197 w 12185300"/>
              <a:gd name="connsiteY4" fmla="*/ 4 h 6858000"/>
              <a:gd name="connsiteX5" fmla="*/ 11322198 w 12185300"/>
              <a:gd name="connsiteY5" fmla="*/ 2 h 6858000"/>
              <a:gd name="connsiteX6" fmla="*/ 11322200 w 12185300"/>
              <a:gd name="connsiteY6" fmla="*/ 0 h 6858000"/>
              <a:gd name="connsiteX7" fmla="*/ 0 w 12185300"/>
              <a:gd name="connsiteY7" fmla="*/ 6858000 h 6858000"/>
              <a:gd name="connsiteX8" fmla="*/ 0 w 12185300"/>
              <a:gd name="connsiteY8" fmla="*/ 0 h 6858000"/>
              <a:gd name="connsiteX9" fmla="*/ 0 w 12185300"/>
              <a:gd name="connsiteY9" fmla="*/ 6858000 h 6858000"/>
              <a:gd name="connsiteX0" fmla="*/ 6010592 w 6873692"/>
              <a:gd name="connsiteY0" fmla="*/ 0 h 6858000"/>
              <a:gd name="connsiteX1" fmla="*/ 6873692 w 6873692"/>
              <a:gd name="connsiteY1" fmla="*/ 0 h 6858000"/>
              <a:gd name="connsiteX2" fmla="*/ 6873692 w 6873692"/>
              <a:gd name="connsiteY2" fmla="*/ 6858000 h 6858000"/>
              <a:gd name="connsiteX3" fmla="*/ 0 w 6873692"/>
              <a:gd name="connsiteY3" fmla="*/ 6858000 h 6858000"/>
              <a:gd name="connsiteX4" fmla="*/ 6010589 w 6873692"/>
              <a:gd name="connsiteY4" fmla="*/ 4 h 6858000"/>
              <a:gd name="connsiteX5" fmla="*/ 6010590 w 6873692"/>
              <a:gd name="connsiteY5" fmla="*/ 2 h 6858000"/>
              <a:gd name="connsiteX6" fmla="*/ 6010592 w 6873692"/>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73692" h="6858000">
                <a:moveTo>
                  <a:pt x="6010592" y="0"/>
                </a:moveTo>
                <a:lnTo>
                  <a:pt x="6873692" y="0"/>
                </a:lnTo>
                <a:lnTo>
                  <a:pt x="6873692" y="6858000"/>
                </a:lnTo>
                <a:lnTo>
                  <a:pt x="0" y="6858000"/>
                </a:lnTo>
                <a:lnTo>
                  <a:pt x="6010589" y="4"/>
                </a:lnTo>
                <a:cubicBezTo>
                  <a:pt x="6010589" y="3"/>
                  <a:pt x="6010590" y="3"/>
                  <a:pt x="6010590" y="2"/>
                </a:cubicBezTo>
                <a:lnTo>
                  <a:pt x="6010592" y="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65FCBBA-905A-4FD1-BFBA-F3EE6DA264E0}"/>
              </a:ext>
            </a:extLst>
          </p:cNvPr>
          <p:cNvSpPr>
            <a:spLocks noGrp="1"/>
          </p:cNvSpPr>
          <p:nvPr>
            <p:ph type="ctrTitle"/>
          </p:nvPr>
        </p:nvSpPr>
        <p:spPr>
          <a:xfrm>
            <a:off x="1143000" y="1181098"/>
            <a:ext cx="8986580" cy="2832404"/>
          </a:xfrm>
        </p:spPr>
        <p:txBody>
          <a:bodyPr anchor="t">
            <a:normAutofit/>
          </a:bodyPr>
          <a:lstStyle>
            <a:lvl1pPr algn="l">
              <a:lnSpc>
                <a:spcPct val="100000"/>
              </a:lnSpc>
              <a:defRPr sz="4800" cap="all" spc="300" baseline="0"/>
            </a:lvl1pPr>
          </a:lstStyle>
          <a:p>
            <a:r>
              <a:rPr lang="en-US" dirty="0"/>
              <a:t>Click to edit Master title style</a:t>
            </a:r>
          </a:p>
        </p:txBody>
      </p:sp>
      <p:sp>
        <p:nvSpPr>
          <p:cNvPr id="3" name="Subtitle 2">
            <a:extLst>
              <a:ext uri="{FF2B5EF4-FFF2-40B4-BE49-F238E27FC236}">
                <a16:creationId xmlns:a16="http://schemas.microsoft.com/office/drawing/2014/main" id="{13DD287E-F1C8-463F-8429-D1B5B1582520}"/>
              </a:ext>
            </a:extLst>
          </p:cNvPr>
          <p:cNvSpPr>
            <a:spLocks noGrp="1"/>
          </p:cNvSpPr>
          <p:nvPr>
            <p:ph type="subTitle" idx="1"/>
          </p:nvPr>
        </p:nvSpPr>
        <p:spPr>
          <a:xfrm>
            <a:off x="1143000" y="5463522"/>
            <a:ext cx="8986580" cy="650311"/>
          </a:xfrm>
        </p:spPr>
        <p:txBody>
          <a:bodyPr>
            <a:normAutofit/>
          </a:bodyPr>
          <a:lstStyle>
            <a:lvl1pPr marL="0" indent="0" algn="l">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81F44ED-7973-4A99-B2CA-A8962BCE0D5D}"/>
              </a:ext>
            </a:extLst>
          </p:cNvPr>
          <p:cNvSpPr>
            <a:spLocks noGrp="1"/>
          </p:cNvSpPr>
          <p:nvPr>
            <p:ph type="dt" sz="half" idx="10"/>
          </p:nvPr>
        </p:nvSpPr>
        <p:spPr/>
        <p:txBody>
          <a:bodyPr/>
          <a:lstStyle/>
          <a:p>
            <a:fld id="{3CADBD16-5BFB-4D9F-9646-C75D1B53BBB6}" type="datetimeFigureOut">
              <a:rPr lang="en-US" smtClean="0"/>
              <a:t>2/19/2026</a:t>
            </a:fld>
            <a:endParaRPr lang="en-US"/>
          </a:p>
        </p:txBody>
      </p:sp>
      <p:sp>
        <p:nvSpPr>
          <p:cNvPr id="5" name="Footer Placeholder 4">
            <a:extLst>
              <a:ext uri="{FF2B5EF4-FFF2-40B4-BE49-F238E27FC236}">
                <a16:creationId xmlns:a16="http://schemas.microsoft.com/office/drawing/2014/main" id="{08DF96F2-D6BE-49AC-A605-5AE87C3F2F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7FC50-B13C-4B63-AE64-F71A6EDE63B6}"/>
              </a:ext>
            </a:extLst>
          </p:cNvPr>
          <p:cNvSpPr>
            <a:spLocks noGrp="1"/>
          </p:cNvSpPr>
          <p:nvPr>
            <p:ph type="sldNum" sz="quarter" idx="12"/>
          </p:nvPr>
        </p:nvSpPr>
        <p:spPr/>
        <p:txBody>
          <a:bodyPr/>
          <a:lstStyle/>
          <a:p>
            <a:fld id="{C0722274-0FAA-4649-AA4E-4210F4F32167}" type="slidenum">
              <a:rPr lang="en-US" smtClean="0"/>
              <a:t>‹#›</a:t>
            </a:fld>
            <a:endParaRPr lang="en-US"/>
          </a:p>
        </p:txBody>
      </p:sp>
      <p:cxnSp>
        <p:nvCxnSpPr>
          <p:cNvPr id="12" name="Straight Connector 11">
            <a:extLst>
              <a:ext uri="{FF2B5EF4-FFF2-40B4-BE49-F238E27FC236}">
                <a16:creationId xmlns:a16="http://schemas.microsoft.com/office/drawing/2014/main" id="{4C75A547-BCD1-42BE-966E-53CA0AB93165}"/>
              </a:ext>
            </a:extLst>
          </p:cNvPr>
          <p:cNvCxnSpPr>
            <a:cxnSpLocks/>
          </p:cNvCxnSpPr>
          <p:nvPr/>
        </p:nvCxnSpPr>
        <p:spPr>
          <a:xfrm>
            <a:off x="1188357" y="5151666"/>
            <a:ext cx="98225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9594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CD6F3-88F1-4195-8395-57AA096BB3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D8D06C-EB08-40B3-AFB3-A62F441122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03962F-B413-4C4C-A490-724DDB9E7DB9}"/>
              </a:ext>
            </a:extLst>
          </p:cNvPr>
          <p:cNvSpPr>
            <a:spLocks noGrp="1"/>
          </p:cNvSpPr>
          <p:nvPr>
            <p:ph type="dt" sz="half" idx="10"/>
          </p:nvPr>
        </p:nvSpPr>
        <p:spPr/>
        <p:txBody>
          <a:bodyPr/>
          <a:lstStyle/>
          <a:p>
            <a:fld id="{3CADBD16-5BFB-4D9F-9646-C75D1B53BBB6}" type="datetimeFigureOut">
              <a:rPr lang="en-US" smtClean="0"/>
              <a:t>2/19/2026</a:t>
            </a:fld>
            <a:endParaRPr lang="en-US"/>
          </a:p>
        </p:txBody>
      </p:sp>
      <p:sp>
        <p:nvSpPr>
          <p:cNvPr id="5" name="Footer Placeholder 4">
            <a:extLst>
              <a:ext uri="{FF2B5EF4-FFF2-40B4-BE49-F238E27FC236}">
                <a16:creationId xmlns:a16="http://schemas.microsoft.com/office/drawing/2014/main" id="{02871813-4E87-4C04-835D-76246010B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922BA3-033C-491E-A045-F0052AC19A8C}"/>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845027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E19AD-2EDD-4B4F-9F9E-46A4441847A6}"/>
              </a:ext>
            </a:extLst>
          </p:cNvPr>
          <p:cNvSpPr>
            <a:spLocks noGrp="1"/>
          </p:cNvSpPr>
          <p:nvPr>
            <p:ph type="title"/>
          </p:nvPr>
        </p:nvSpPr>
        <p:spPr>
          <a:xfrm>
            <a:off x="1143000" y="1709738"/>
            <a:ext cx="8520952" cy="2852737"/>
          </a:xfrm>
        </p:spPr>
        <p:txBody>
          <a:bodyPr anchor="b">
            <a:normAutofit/>
          </a:bodyPr>
          <a:lstStyle>
            <a:lvl1pPr>
              <a:defRPr sz="4800"/>
            </a:lvl1pPr>
          </a:lstStyle>
          <a:p>
            <a:r>
              <a:rPr lang="en-US" dirty="0"/>
              <a:t>Click to edit Master title style</a:t>
            </a:r>
          </a:p>
        </p:txBody>
      </p:sp>
      <p:sp>
        <p:nvSpPr>
          <p:cNvPr id="3" name="Text Placeholder 2">
            <a:extLst>
              <a:ext uri="{FF2B5EF4-FFF2-40B4-BE49-F238E27FC236}">
                <a16:creationId xmlns:a16="http://schemas.microsoft.com/office/drawing/2014/main" id="{00EE5927-21D5-4EBA-A112-CAD1BD38BCB1}"/>
              </a:ext>
            </a:extLst>
          </p:cNvPr>
          <p:cNvSpPr>
            <a:spLocks noGrp="1"/>
          </p:cNvSpPr>
          <p:nvPr>
            <p:ph type="body" idx="1"/>
          </p:nvPr>
        </p:nvSpPr>
        <p:spPr>
          <a:xfrm>
            <a:off x="1143000" y="4589466"/>
            <a:ext cx="8520952" cy="813266"/>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CEF0D16-9D87-4D76-A5A5-534E24B7DD25}"/>
              </a:ext>
            </a:extLst>
          </p:cNvPr>
          <p:cNvSpPr>
            <a:spLocks noGrp="1"/>
          </p:cNvSpPr>
          <p:nvPr>
            <p:ph type="dt" sz="half" idx="10"/>
          </p:nvPr>
        </p:nvSpPr>
        <p:spPr/>
        <p:txBody>
          <a:bodyPr/>
          <a:lstStyle/>
          <a:p>
            <a:fld id="{3CADBD16-5BFB-4D9F-9646-C75D1B53BBB6}" type="datetimeFigureOut">
              <a:rPr lang="en-US" smtClean="0"/>
              <a:t>2/19/2026</a:t>
            </a:fld>
            <a:endParaRPr lang="en-US"/>
          </a:p>
        </p:txBody>
      </p:sp>
      <p:sp>
        <p:nvSpPr>
          <p:cNvPr id="5" name="Footer Placeholder 4">
            <a:extLst>
              <a:ext uri="{FF2B5EF4-FFF2-40B4-BE49-F238E27FC236}">
                <a16:creationId xmlns:a16="http://schemas.microsoft.com/office/drawing/2014/main" id="{5965F387-5AAC-45D0-ABCE-B1CF4BC7E0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8AF6FE-0006-4F40-A7FB-E0FDBADF7548}"/>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029004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8AADE-587E-4574-B21B-7ABDE5A236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2F9DA5-4DFB-4211-A58A-FFD842C27A65}"/>
              </a:ext>
            </a:extLst>
          </p:cNvPr>
          <p:cNvSpPr>
            <a:spLocks noGrp="1"/>
          </p:cNvSpPr>
          <p:nvPr>
            <p:ph sz="half" idx="1"/>
          </p:nvPr>
        </p:nvSpPr>
        <p:spPr>
          <a:xfrm>
            <a:off x="1143000" y="2339501"/>
            <a:ext cx="4798979" cy="35505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A99F26-66AF-4614-91CE-C93A24BAC23A}"/>
              </a:ext>
            </a:extLst>
          </p:cNvPr>
          <p:cNvSpPr>
            <a:spLocks noGrp="1"/>
          </p:cNvSpPr>
          <p:nvPr>
            <p:ph sz="half" idx="2"/>
          </p:nvPr>
        </p:nvSpPr>
        <p:spPr>
          <a:xfrm>
            <a:off x="6250020" y="2339501"/>
            <a:ext cx="4798980" cy="355059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F8F678E-59B5-4DF9-ABCB-506B9CB701CC}"/>
              </a:ext>
            </a:extLst>
          </p:cNvPr>
          <p:cNvSpPr>
            <a:spLocks noGrp="1"/>
          </p:cNvSpPr>
          <p:nvPr>
            <p:ph type="dt" sz="half" idx="10"/>
          </p:nvPr>
        </p:nvSpPr>
        <p:spPr/>
        <p:txBody>
          <a:bodyPr/>
          <a:lstStyle/>
          <a:p>
            <a:fld id="{3CADBD16-5BFB-4D9F-9646-C75D1B53BBB6}" type="datetimeFigureOut">
              <a:rPr lang="en-US" smtClean="0"/>
              <a:t>2/19/2026</a:t>
            </a:fld>
            <a:endParaRPr lang="en-US"/>
          </a:p>
        </p:txBody>
      </p:sp>
      <p:sp>
        <p:nvSpPr>
          <p:cNvPr id="6" name="Footer Placeholder 5">
            <a:extLst>
              <a:ext uri="{FF2B5EF4-FFF2-40B4-BE49-F238E27FC236}">
                <a16:creationId xmlns:a16="http://schemas.microsoft.com/office/drawing/2014/main" id="{18B50A53-317B-444A-9BA2-F69CDBF5DA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B269A1-B0FB-4C8F-B6AA-0718C92D3D22}"/>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344019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2BBBF-42B2-4A5D-B145-46983A530170}"/>
              </a:ext>
            </a:extLst>
          </p:cNvPr>
          <p:cNvSpPr>
            <a:spLocks noGrp="1"/>
          </p:cNvSpPr>
          <p:nvPr>
            <p:ph type="title"/>
          </p:nvPr>
        </p:nvSpPr>
        <p:spPr>
          <a:xfrm>
            <a:off x="1143000" y="1133272"/>
            <a:ext cx="9905999" cy="846307"/>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E804BE44-5271-4B5D-B649-35E3AF20B48F}"/>
              </a:ext>
            </a:extLst>
          </p:cNvPr>
          <p:cNvSpPr>
            <a:spLocks noGrp="1"/>
          </p:cNvSpPr>
          <p:nvPr>
            <p:ph type="body" idx="1"/>
          </p:nvPr>
        </p:nvSpPr>
        <p:spPr>
          <a:xfrm>
            <a:off x="1142999" y="2067127"/>
            <a:ext cx="4798980" cy="710119"/>
          </a:xfrm>
        </p:spPr>
        <p:txBody>
          <a:bodyPr anchor="b">
            <a:normAutofit/>
          </a:bodyPr>
          <a:lstStyle>
            <a:lvl1pPr marL="0" indent="0">
              <a:buNone/>
              <a:defRPr sz="20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4D7891E-0C0A-4688-97DD-C0715E322194}"/>
              </a:ext>
            </a:extLst>
          </p:cNvPr>
          <p:cNvSpPr>
            <a:spLocks noGrp="1"/>
          </p:cNvSpPr>
          <p:nvPr>
            <p:ph sz="half" idx="2"/>
          </p:nvPr>
        </p:nvSpPr>
        <p:spPr>
          <a:xfrm>
            <a:off x="1143001" y="2864795"/>
            <a:ext cx="4798978" cy="3025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5EAF30-3412-49B0-93D1-596CC2695B26}"/>
              </a:ext>
            </a:extLst>
          </p:cNvPr>
          <p:cNvSpPr>
            <a:spLocks noGrp="1"/>
          </p:cNvSpPr>
          <p:nvPr>
            <p:ph type="body" sz="quarter" idx="3"/>
          </p:nvPr>
        </p:nvSpPr>
        <p:spPr>
          <a:xfrm>
            <a:off x="6250018" y="2067127"/>
            <a:ext cx="4798981" cy="710119"/>
          </a:xfrm>
        </p:spPr>
        <p:txBody>
          <a:bodyPr anchor="b">
            <a:normAutofit/>
          </a:bodyPr>
          <a:lstStyle>
            <a:lvl1pPr marL="0" indent="0">
              <a:buNone/>
              <a:defRPr sz="20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707B9B7-F41C-4314-9F0C-BB84547FB8CA}"/>
              </a:ext>
            </a:extLst>
          </p:cNvPr>
          <p:cNvSpPr>
            <a:spLocks noGrp="1"/>
          </p:cNvSpPr>
          <p:nvPr>
            <p:ph sz="quarter" idx="4"/>
          </p:nvPr>
        </p:nvSpPr>
        <p:spPr>
          <a:xfrm>
            <a:off x="6250019" y="2864795"/>
            <a:ext cx="4798982" cy="3025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421587F-6AFC-4906-86EB-6B0A86EEF300}"/>
              </a:ext>
            </a:extLst>
          </p:cNvPr>
          <p:cNvSpPr>
            <a:spLocks noGrp="1"/>
          </p:cNvSpPr>
          <p:nvPr>
            <p:ph type="dt" sz="half" idx="10"/>
          </p:nvPr>
        </p:nvSpPr>
        <p:spPr/>
        <p:txBody>
          <a:bodyPr/>
          <a:lstStyle/>
          <a:p>
            <a:fld id="{3CADBD16-5BFB-4D9F-9646-C75D1B53BBB6}" type="datetimeFigureOut">
              <a:rPr lang="en-US" smtClean="0"/>
              <a:t>2/19/2026</a:t>
            </a:fld>
            <a:endParaRPr lang="en-US"/>
          </a:p>
        </p:txBody>
      </p:sp>
      <p:sp>
        <p:nvSpPr>
          <p:cNvPr id="8" name="Footer Placeholder 7">
            <a:extLst>
              <a:ext uri="{FF2B5EF4-FFF2-40B4-BE49-F238E27FC236}">
                <a16:creationId xmlns:a16="http://schemas.microsoft.com/office/drawing/2014/main" id="{354BE2C5-583B-49BC-9864-B01EEF79874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39B236-45F5-4CC6-8D53-A6903A1CC8B3}"/>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2493818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6B206-0678-4577-B79F-760526A5FD76}"/>
              </a:ext>
            </a:extLst>
          </p:cNvPr>
          <p:cNvSpPr>
            <a:spLocks noGrp="1"/>
          </p:cNvSpPr>
          <p:nvPr>
            <p:ph type="title"/>
          </p:nvPr>
        </p:nvSpPr>
        <p:spPr>
          <a:xfrm>
            <a:off x="2019300" y="1322615"/>
            <a:ext cx="8175171" cy="4212771"/>
          </a:xfrm>
        </p:spPr>
        <p:txBody>
          <a:bodyPr/>
          <a:lstStyle>
            <a:lvl1pPr algn="ctr">
              <a:defRPr/>
            </a:lvl1pPr>
          </a:lstStyle>
          <a:p>
            <a:r>
              <a:rPr lang="en-US" dirty="0"/>
              <a:t>Click to edit Master title style</a:t>
            </a:r>
          </a:p>
        </p:txBody>
      </p:sp>
      <p:sp>
        <p:nvSpPr>
          <p:cNvPr id="3" name="Date Placeholder 2">
            <a:extLst>
              <a:ext uri="{FF2B5EF4-FFF2-40B4-BE49-F238E27FC236}">
                <a16:creationId xmlns:a16="http://schemas.microsoft.com/office/drawing/2014/main" id="{E6D5FCB8-AFD3-4801-BBD6-9548F4CF7C86}"/>
              </a:ext>
            </a:extLst>
          </p:cNvPr>
          <p:cNvSpPr>
            <a:spLocks noGrp="1"/>
          </p:cNvSpPr>
          <p:nvPr>
            <p:ph type="dt" sz="half" idx="10"/>
          </p:nvPr>
        </p:nvSpPr>
        <p:spPr/>
        <p:txBody>
          <a:bodyPr/>
          <a:lstStyle/>
          <a:p>
            <a:fld id="{3CADBD16-5BFB-4D9F-9646-C75D1B53BBB6}" type="datetimeFigureOut">
              <a:rPr lang="en-US" smtClean="0"/>
              <a:t>2/19/2026</a:t>
            </a:fld>
            <a:endParaRPr lang="en-US"/>
          </a:p>
        </p:txBody>
      </p:sp>
      <p:sp>
        <p:nvSpPr>
          <p:cNvPr id="4" name="Footer Placeholder 3">
            <a:extLst>
              <a:ext uri="{FF2B5EF4-FFF2-40B4-BE49-F238E27FC236}">
                <a16:creationId xmlns:a16="http://schemas.microsoft.com/office/drawing/2014/main" id="{0F6DACF8-CBC0-416B-B28E-EE18C4238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0C7421-FF49-4CE9-87D0-2B4FFE0E3DC4}"/>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882612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19CBFE-15AA-4447-9F9C-D8B0BEB242DA}"/>
              </a:ext>
            </a:extLst>
          </p:cNvPr>
          <p:cNvSpPr>
            <a:spLocks noGrp="1"/>
          </p:cNvSpPr>
          <p:nvPr>
            <p:ph type="dt" sz="half" idx="10"/>
          </p:nvPr>
        </p:nvSpPr>
        <p:spPr/>
        <p:txBody>
          <a:bodyPr/>
          <a:lstStyle/>
          <a:p>
            <a:fld id="{3CADBD16-5BFB-4D9F-9646-C75D1B53BBB6}" type="datetimeFigureOut">
              <a:rPr lang="en-US" smtClean="0"/>
              <a:t>2/19/2026</a:t>
            </a:fld>
            <a:endParaRPr lang="en-US"/>
          </a:p>
        </p:txBody>
      </p:sp>
      <p:sp>
        <p:nvSpPr>
          <p:cNvPr id="3" name="Footer Placeholder 2">
            <a:extLst>
              <a:ext uri="{FF2B5EF4-FFF2-40B4-BE49-F238E27FC236}">
                <a16:creationId xmlns:a16="http://schemas.microsoft.com/office/drawing/2014/main" id="{C6B48227-EC1E-4063-9682-891A2DB1A8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2C6A63-C3F4-4563-A542-9A41AC946C32}"/>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4152478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900C1-FE18-461C-801C-8626C7759861}"/>
              </a:ext>
            </a:extLst>
          </p:cNvPr>
          <p:cNvSpPr>
            <a:spLocks noGrp="1"/>
          </p:cNvSpPr>
          <p:nvPr>
            <p:ph type="title"/>
          </p:nvPr>
        </p:nvSpPr>
        <p:spPr>
          <a:xfrm>
            <a:off x="1143000" y="1600200"/>
            <a:ext cx="3932237" cy="1964986"/>
          </a:xfrm>
        </p:spPr>
        <p:txBody>
          <a:bodyPr anchor="b">
            <a:normAutofit/>
          </a:bodyPr>
          <a:lstStyle>
            <a:lvl1pPr>
              <a:lnSpc>
                <a:spcPct val="110000"/>
              </a:lnSpc>
              <a:defRPr sz="2400" cap="all" spc="300" baseline="0"/>
            </a:lvl1pPr>
          </a:lstStyle>
          <a:p>
            <a:r>
              <a:rPr lang="en-US" dirty="0"/>
              <a:t>Click to edit Master title style</a:t>
            </a:r>
          </a:p>
        </p:txBody>
      </p:sp>
      <p:sp>
        <p:nvSpPr>
          <p:cNvPr id="3" name="Content Placeholder 2">
            <a:extLst>
              <a:ext uri="{FF2B5EF4-FFF2-40B4-BE49-F238E27FC236}">
                <a16:creationId xmlns:a16="http://schemas.microsoft.com/office/drawing/2014/main" id="{AB14CFF3-3406-49E3-9D5A-1BE90FFA508E}"/>
              </a:ext>
            </a:extLst>
          </p:cNvPr>
          <p:cNvSpPr>
            <a:spLocks noGrp="1"/>
          </p:cNvSpPr>
          <p:nvPr>
            <p:ph idx="1"/>
          </p:nvPr>
        </p:nvSpPr>
        <p:spPr>
          <a:xfrm>
            <a:off x="5627451" y="987425"/>
            <a:ext cx="5421548"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033D14FF-9082-4BBA-BC7A-F4C5B78599C5}"/>
              </a:ext>
            </a:extLst>
          </p:cNvPr>
          <p:cNvSpPr>
            <a:spLocks noGrp="1"/>
          </p:cNvSpPr>
          <p:nvPr>
            <p:ph type="body" sz="half" idx="2"/>
          </p:nvPr>
        </p:nvSpPr>
        <p:spPr>
          <a:xfrm>
            <a:off x="1143000" y="3662464"/>
            <a:ext cx="3932237" cy="2206523"/>
          </a:xfrm>
        </p:spPr>
        <p:txBody>
          <a:bodyPr/>
          <a:lstStyle>
            <a:lvl1pPr marL="0" indent="0">
              <a:buNone/>
              <a:defRPr sz="16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5A2726-EB8E-4DF7-9A1B-F03BD8C7179E}"/>
              </a:ext>
            </a:extLst>
          </p:cNvPr>
          <p:cNvSpPr>
            <a:spLocks noGrp="1"/>
          </p:cNvSpPr>
          <p:nvPr>
            <p:ph type="dt" sz="half" idx="10"/>
          </p:nvPr>
        </p:nvSpPr>
        <p:spPr/>
        <p:txBody>
          <a:bodyPr/>
          <a:lstStyle/>
          <a:p>
            <a:fld id="{3CADBD16-5BFB-4D9F-9646-C75D1B53BBB6}" type="datetimeFigureOut">
              <a:rPr lang="en-US" smtClean="0"/>
              <a:t>2/19/2026</a:t>
            </a:fld>
            <a:endParaRPr lang="en-US"/>
          </a:p>
        </p:txBody>
      </p:sp>
      <p:sp>
        <p:nvSpPr>
          <p:cNvPr id="6" name="Footer Placeholder 5">
            <a:extLst>
              <a:ext uri="{FF2B5EF4-FFF2-40B4-BE49-F238E27FC236}">
                <a16:creationId xmlns:a16="http://schemas.microsoft.com/office/drawing/2014/main" id="{8D9929BE-611C-4FE6-B0A5-E0FF9DF969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B90B32-1D0E-4BCD-8850-59EA235F7EB4}"/>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607080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CA1460E-1069-4FCA-B04E-28F77C861046}"/>
              </a:ext>
            </a:extLst>
          </p:cNvPr>
          <p:cNvSpPr>
            <a:spLocks noGrp="1"/>
          </p:cNvSpPr>
          <p:nvPr>
            <p:ph type="pic" idx="1"/>
          </p:nvPr>
        </p:nvSpPr>
        <p:spPr>
          <a:xfrm>
            <a:off x="5513614" y="987425"/>
            <a:ext cx="55353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6138C1E-867B-4FE9-8783-9B1246AEB797}"/>
              </a:ext>
            </a:extLst>
          </p:cNvPr>
          <p:cNvSpPr>
            <a:spLocks noGrp="1"/>
          </p:cNvSpPr>
          <p:nvPr>
            <p:ph type="body" sz="half" idx="2"/>
          </p:nvPr>
        </p:nvSpPr>
        <p:spPr>
          <a:xfrm>
            <a:off x="1143000" y="3657601"/>
            <a:ext cx="3932236" cy="2211388"/>
          </a:xfrm>
        </p:spPr>
        <p:txBody>
          <a:bodyPr/>
          <a:lstStyle>
            <a:lvl1pPr marL="0" indent="0">
              <a:buNone/>
              <a:defRPr sz="16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0721568-4870-46F2-9F7E-F410702012D9}"/>
              </a:ext>
            </a:extLst>
          </p:cNvPr>
          <p:cNvSpPr>
            <a:spLocks noGrp="1"/>
          </p:cNvSpPr>
          <p:nvPr>
            <p:ph type="dt" sz="half" idx="10"/>
          </p:nvPr>
        </p:nvSpPr>
        <p:spPr/>
        <p:txBody>
          <a:bodyPr/>
          <a:lstStyle/>
          <a:p>
            <a:fld id="{3CADBD16-5BFB-4D9F-9646-C75D1B53BBB6}" type="datetimeFigureOut">
              <a:rPr lang="en-US" smtClean="0"/>
              <a:t>2/19/2026</a:t>
            </a:fld>
            <a:endParaRPr lang="en-US"/>
          </a:p>
        </p:txBody>
      </p:sp>
      <p:sp>
        <p:nvSpPr>
          <p:cNvPr id="6" name="Footer Placeholder 5">
            <a:extLst>
              <a:ext uri="{FF2B5EF4-FFF2-40B4-BE49-F238E27FC236}">
                <a16:creationId xmlns:a16="http://schemas.microsoft.com/office/drawing/2014/main" id="{0BB3CC65-0E73-45A1-9D4F-3F4559B3B6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8C58CD-9BC3-431E-A7B4-D596A7F06C5E}"/>
              </a:ext>
            </a:extLst>
          </p:cNvPr>
          <p:cNvSpPr>
            <a:spLocks noGrp="1"/>
          </p:cNvSpPr>
          <p:nvPr>
            <p:ph type="sldNum" sz="quarter" idx="12"/>
          </p:nvPr>
        </p:nvSpPr>
        <p:spPr/>
        <p:txBody>
          <a:bodyPr/>
          <a:lstStyle/>
          <a:p>
            <a:fld id="{C0722274-0FAA-4649-AA4E-4210F4F32167}" type="slidenum">
              <a:rPr lang="en-US" smtClean="0"/>
              <a:t>‹#›</a:t>
            </a:fld>
            <a:endParaRPr lang="en-US"/>
          </a:p>
        </p:txBody>
      </p:sp>
      <p:sp>
        <p:nvSpPr>
          <p:cNvPr id="2" name="Title 1">
            <a:extLst>
              <a:ext uri="{FF2B5EF4-FFF2-40B4-BE49-F238E27FC236}">
                <a16:creationId xmlns:a16="http://schemas.microsoft.com/office/drawing/2014/main" id="{2368F756-D171-474C-8B1A-C818032F6F78}"/>
              </a:ext>
            </a:extLst>
          </p:cNvPr>
          <p:cNvSpPr>
            <a:spLocks noGrp="1"/>
          </p:cNvSpPr>
          <p:nvPr>
            <p:ph type="title"/>
          </p:nvPr>
        </p:nvSpPr>
        <p:spPr>
          <a:xfrm>
            <a:off x="1143000" y="1600201"/>
            <a:ext cx="3932236" cy="1959428"/>
          </a:xfrm>
        </p:spPr>
        <p:txBody>
          <a:bodyPr anchor="b">
            <a:normAutofit/>
          </a:bodyPr>
          <a:lstStyle>
            <a:lvl1pPr>
              <a:lnSpc>
                <a:spcPct val="110000"/>
              </a:lnSpc>
              <a:defRPr sz="2400" cap="all" spc="300" baseline="0"/>
            </a:lvl1pPr>
          </a:lstStyle>
          <a:p>
            <a:r>
              <a:rPr lang="en-US" dirty="0"/>
              <a:t>Click to edit Master title style</a:t>
            </a:r>
          </a:p>
        </p:txBody>
      </p:sp>
    </p:spTree>
    <p:extLst>
      <p:ext uri="{BB962C8B-B14F-4D97-AF65-F5344CB8AC3E}">
        <p14:creationId xmlns:p14="http://schemas.microsoft.com/office/powerpoint/2010/main" val="4057470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A3BF2-BCE9-47D7-B1C0-1F0E4936B6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2722E9-C3E4-48AF-996A-495AE659FA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C9E516-382B-4845-93BF-20C16EE0DB05}"/>
              </a:ext>
            </a:extLst>
          </p:cNvPr>
          <p:cNvSpPr>
            <a:spLocks noGrp="1"/>
          </p:cNvSpPr>
          <p:nvPr>
            <p:ph type="dt" sz="half" idx="10"/>
          </p:nvPr>
        </p:nvSpPr>
        <p:spPr/>
        <p:txBody>
          <a:bodyPr/>
          <a:lstStyle/>
          <a:p>
            <a:fld id="{3CADBD16-5BFB-4D9F-9646-C75D1B53BBB6}" type="datetimeFigureOut">
              <a:rPr lang="en-US" smtClean="0"/>
              <a:t>2/19/2026</a:t>
            </a:fld>
            <a:endParaRPr lang="en-US"/>
          </a:p>
        </p:txBody>
      </p:sp>
      <p:sp>
        <p:nvSpPr>
          <p:cNvPr id="5" name="Footer Placeholder 4">
            <a:extLst>
              <a:ext uri="{FF2B5EF4-FFF2-40B4-BE49-F238E27FC236}">
                <a16:creationId xmlns:a16="http://schemas.microsoft.com/office/drawing/2014/main" id="{EAB96E16-F168-442A-843C-5D490D54B0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A61BEA-A969-437A-BD8B-CB1B709AD430}"/>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887745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528449-3E11-45FF-BF3A-651867603E75}"/>
              </a:ext>
            </a:extLst>
          </p:cNvPr>
          <p:cNvSpPr>
            <a:spLocks noGrp="1"/>
          </p:cNvSpPr>
          <p:nvPr>
            <p:ph type="title" orient="vert"/>
          </p:nvPr>
        </p:nvSpPr>
        <p:spPr>
          <a:xfrm>
            <a:off x="8572500" y="870625"/>
            <a:ext cx="2476499" cy="502920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AFC0EAB0-2DFA-4CBA-86B1-1826EF523D4D}"/>
              </a:ext>
            </a:extLst>
          </p:cNvPr>
          <p:cNvSpPr>
            <a:spLocks noGrp="1"/>
          </p:cNvSpPr>
          <p:nvPr>
            <p:ph type="body" orient="vert" idx="1"/>
          </p:nvPr>
        </p:nvSpPr>
        <p:spPr>
          <a:xfrm>
            <a:off x="1143000" y="870625"/>
            <a:ext cx="7324928" cy="50292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FA22F89-E1F5-45D7-945A-8A2886C4BA59}"/>
              </a:ext>
            </a:extLst>
          </p:cNvPr>
          <p:cNvSpPr>
            <a:spLocks noGrp="1"/>
          </p:cNvSpPr>
          <p:nvPr>
            <p:ph type="dt" sz="half" idx="10"/>
          </p:nvPr>
        </p:nvSpPr>
        <p:spPr/>
        <p:txBody>
          <a:bodyPr/>
          <a:lstStyle/>
          <a:p>
            <a:fld id="{3CADBD16-5BFB-4D9F-9646-C75D1B53BBB6}" type="datetimeFigureOut">
              <a:rPr lang="en-US" smtClean="0"/>
              <a:t>2/19/2026</a:t>
            </a:fld>
            <a:endParaRPr lang="en-US"/>
          </a:p>
        </p:txBody>
      </p:sp>
      <p:sp>
        <p:nvSpPr>
          <p:cNvPr id="5" name="Footer Placeholder 4">
            <a:extLst>
              <a:ext uri="{FF2B5EF4-FFF2-40B4-BE49-F238E27FC236}">
                <a16:creationId xmlns:a16="http://schemas.microsoft.com/office/drawing/2014/main" id="{637E7E82-5FB8-4289-AD0C-0BA788E14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5A4046-1A2C-41F5-A177-1C3919C20569}"/>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649123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1C2F78B-DEE8-4195-A196-DFC51BDADFF9}"/>
              </a:ext>
            </a:extLst>
          </p:cNvPr>
          <p:cNvSpPr/>
          <p:nvPr/>
        </p:nvSpPr>
        <p:spPr>
          <a:xfrm>
            <a:off x="9749268" y="4070878"/>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A1D79D08-4BE8-4799-BE09-5078DFEE2256}"/>
              </a:ext>
            </a:extLst>
          </p:cNvPr>
          <p:cNvSpPr/>
          <p:nvPr/>
        </p:nvSpPr>
        <p:spPr>
          <a:xfrm rot="10800000">
            <a:off x="0" y="0"/>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2" name="Straight Connector 11">
            <a:extLst>
              <a:ext uri="{FF2B5EF4-FFF2-40B4-BE49-F238E27FC236}">
                <a16:creationId xmlns:a16="http://schemas.microsoft.com/office/drawing/2014/main" id="{C95D65A1-16CB-407F-993F-2A6D59BCC0C8}"/>
              </a:ext>
            </a:extLst>
          </p:cNvPr>
          <p:cNvCxnSpPr>
            <a:cxnSpLocks/>
          </p:cNvCxnSpPr>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0BA018A2-815D-41B0-A189-FDF7A5E88891}"/>
              </a:ext>
            </a:extLst>
          </p:cNvPr>
          <p:cNvSpPr>
            <a:spLocks noGrp="1"/>
          </p:cNvSpPr>
          <p:nvPr>
            <p:ph type="title"/>
          </p:nvPr>
        </p:nvSpPr>
        <p:spPr>
          <a:xfrm>
            <a:off x="1143000" y="872935"/>
            <a:ext cx="9905999" cy="13608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6DFAE63-1276-4C7C-BFF5-F5DF1CDB23E5}"/>
              </a:ext>
            </a:extLst>
          </p:cNvPr>
          <p:cNvSpPr>
            <a:spLocks noGrp="1"/>
          </p:cNvSpPr>
          <p:nvPr>
            <p:ph type="body" idx="1"/>
          </p:nvPr>
        </p:nvSpPr>
        <p:spPr>
          <a:xfrm>
            <a:off x="1143000" y="2332026"/>
            <a:ext cx="9905999" cy="356711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5380268-2D73-487C-843B-51648AE18194}"/>
              </a:ext>
            </a:extLst>
          </p:cNvPr>
          <p:cNvSpPr>
            <a:spLocks noGrp="1"/>
          </p:cNvSpPr>
          <p:nvPr>
            <p:ph type="dt" sz="half" idx="2"/>
          </p:nvPr>
        </p:nvSpPr>
        <p:spPr>
          <a:xfrm>
            <a:off x="7388157" y="6356350"/>
            <a:ext cx="3093395" cy="365125"/>
          </a:xfrm>
          <a:prstGeom prst="rect">
            <a:avLst/>
          </a:prstGeom>
        </p:spPr>
        <p:txBody>
          <a:bodyPr vert="horz" lIns="91440" tIns="45720" rIns="91440" bIns="45720" rtlCol="0" anchor="ctr"/>
          <a:lstStyle>
            <a:lvl1pPr algn="r">
              <a:defRPr sz="1050">
                <a:solidFill>
                  <a:schemeClr val="tx1"/>
                </a:solidFill>
              </a:defRPr>
            </a:lvl1pPr>
          </a:lstStyle>
          <a:p>
            <a:fld id="{3CADBD16-5BFB-4D9F-9646-C75D1B53BBB6}" type="datetimeFigureOut">
              <a:rPr lang="en-US" smtClean="0"/>
              <a:pPr/>
              <a:t>2/19/2026</a:t>
            </a:fld>
            <a:endParaRPr lang="en-US" dirty="0"/>
          </a:p>
        </p:txBody>
      </p:sp>
      <p:sp>
        <p:nvSpPr>
          <p:cNvPr id="5" name="Footer Placeholder 4">
            <a:extLst>
              <a:ext uri="{FF2B5EF4-FFF2-40B4-BE49-F238E27FC236}">
                <a16:creationId xmlns:a16="http://schemas.microsoft.com/office/drawing/2014/main" id="{99F61E6D-D51F-4BD7-B59D-19AF179177B8}"/>
              </a:ext>
            </a:extLst>
          </p:cNvPr>
          <p:cNvSpPr>
            <a:spLocks noGrp="1"/>
          </p:cNvSpPr>
          <p:nvPr>
            <p:ph type="ftr" sz="quarter" idx="3"/>
          </p:nvPr>
        </p:nvSpPr>
        <p:spPr>
          <a:xfrm>
            <a:off x="1143000" y="6356350"/>
            <a:ext cx="3959157" cy="365125"/>
          </a:xfrm>
          <a:prstGeom prst="rect">
            <a:avLst/>
          </a:prstGeom>
        </p:spPr>
        <p:txBody>
          <a:bodyPr vert="horz" lIns="91440" tIns="45720" rIns="91440" bIns="45720" rtlCol="0" anchor="ctr"/>
          <a:lstStyle>
            <a:lvl1pPr algn="l">
              <a:defRPr sz="105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27701B1-1C93-41C2-AEE1-815DEA51B962}"/>
              </a:ext>
            </a:extLst>
          </p:cNvPr>
          <p:cNvSpPr>
            <a:spLocks noGrp="1"/>
          </p:cNvSpPr>
          <p:nvPr>
            <p:ph type="sldNum" sz="quarter" idx="4"/>
          </p:nvPr>
        </p:nvSpPr>
        <p:spPr>
          <a:xfrm>
            <a:off x="10423186" y="6356350"/>
            <a:ext cx="625813" cy="365125"/>
          </a:xfrm>
          <a:prstGeom prst="rect">
            <a:avLst/>
          </a:prstGeom>
        </p:spPr>
        <p:txBody>
          <a:bodyPr vert="horz" lIns="91440" tIns="45720" rIns="91440" bIns="45720" rtlCol="0" anchor="ctr"/>
          <a:lstStyle>
            <a:lvl1pPr algn="r">
              <a:defRPr sz="1050">
                <a:solidFill>
                  <a:schemeClr val="tx1"/>
                </a:solidFill>
              </a:defRPr>
            </a:lvl1p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819213851"/>
      </p:ext>
    </p:extLst>
  </p:cSld>
  <p:clrMap bg1="dk1" tx1="lt1" bg2="dk2" tx2="lt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17" r:id="rId6"/>
    <p:sldLayoutId id="2147483713" r:id="rId7"/>
    <p:sldLayoutId id="2147483714" r:id="rId8"/>
    <p:sldLayoutId id="2147483715" r:id="rId9"/>
    <p:sldLayoutId id="2147483716" r:id="rId10"/>
    <p:sldLayoutId id="2147483718" r:id="rId11"/>
  </p:sldLayoutIdLst>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Tx/>
        <a:buNone/>
        <a:defRPr sz="1800" i="1" kern="1200">
          <a:solidFill>
            <a:schemeClr val="tx1"/>
          </a:solidFill>
          <a:latin typeface="+mn-lt"/>
          <a:ea typeface="+mn-ea"/>
          <a:cs typeface="+mn-cs"/>
        </a:defRPr>
      </a:lvl2pPr>
      <a:lvl3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502920" indent="0" algn="l" defTabSz="914400" rtl="0" eaLnBrk="1" latinLnBrk="0" hangingPunct="1">
        <a:lnSpc>
          <a:spcPct val="120000"/>
        </a:lnSpc>
        <a:spcBef>
          <a:spcPts val="500"/>
        </a:spcBef>
        <a:buFontTx/>
        <a:buNone/>
        <a:defRPr sz="1400" i="1" kern="1200">
          <a:solidFill>
            <a:schemeClr val="tx1"/>
          </a:solidFill>
          <a:latin typeface="+mn-lt"/>
          <a:ea typeface="+mn-ea"/>
          <a:cs typeface="+mn-cs"/>
        </a:defRPr>
      </a:lvl4pPr>
      <a:lvl5pPr marL="73152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AB20E7A4-EC2C-47C8-BE55-65771E3F2E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798B7D97-1FE0-4BA9-801E-2CE19FD25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1660" y="0"/>
            <a:ext cx="8239927" cy="6858000"/>
          </a:xfrm>
          <a:custGeom>
            <a:avLst/>
            <a:gdLst>
              <a:gd name="connsiteX0" fmla="*/ 6010593 w 8239927"/>
              <a:gd name="connsiteY0" fmla="*/ 0 h 6858000"/>
              <a:gd name="connsiteX1" fmla="*/ 8239927 w 8239927"/>
              <a:gd name="connsiteY1" fmla="*/ 0 h 6858000"/>
              <a:gd name="connsiteX2" fmla="*/ 2229335 w 8239927"/>
              <a:gd name="connsiteY2" fmla="*/ 6858000 h 6858000"/>
              <a:gd name="connsiteX3" fmla="*/ 0 w 82399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239927" h="6858000">
                <a:moveTo>
                  <a:pt x="6010593" y="0"/>
                </a:moveTo>
                <a:lnTo>
                  <a:pt x="8239927" y="0"/>
                </a:lnTo>
                <a:lnTo>
                  <a:pt x="2229335"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05971" y="1095382"/>
            <a:ext cx="7407275" cy="1916773"/>
          </a:xfrm>
        </p:spPr>
        <p:txBody>
          <a:bodyPr anchor="t">
            <a:normAutofit/>
          </a:bodyPr>
          <a:lstStyle/>
          <a:p>
            <a:pPr>
              <a:lnSpc>
                <a:spcPct val="90000"/>
              </a:lnSpc>
            </a:pPr>
            <a:r>
              <a:rPr lang="en-US" b="1" dirty="0">
                <a:latin typeface="Calibri"/>
                <a:ea typeface="+mj-lt"/>
                <a:cs typeface="+mj-lt"/>
              </a:rPr>
              <a:t>E-Commerce &amp; Retail Store Analysis</a:t>
            </a:r>
            <a:br>
              <a:rPr lang="en-US" sz="2200" b="1" dirty="0">
                <a:ea typeface="+mj-lt"/>
                <a:cs typeface="+mj-lt"/>
              </a:rPr>
            </a:br>
            <a:endParaRPr lang="en-US" sz="2200" b="1" dirty="0">
              <a:ea typeface="+mj-lt"/>
              <a:cs typeface="+mj-lt"/>
            </a:endParaRPr>
          </a:p>
        </p:txBody>
      </p:sp>
      <p:sp>
        <p:nvSpPr>
          <p:cNvPr id="3" name="Subtitle 2"/>
          <p:cNvSpPr>
            <a:spLocks noGrp="1"/>
          </p:cNvSpPr>
          <p:nvPr>
            <p:ph idx="1"/>
          </p:nvPr>
        </p:nvSpPr>
        <p:spPr>
          <a:xfrm>
            <a:off x="6478384" y="2489201"/>
            <a:ext cx="4570615" cy="3225798"/>
          </a:xfrm>
        </p:spPr>
        <p:txBody>
          <a:bodyPr vert="horz" lIns="91440" tIns="45720" rIns="91440" bIns="45720" rtlCol="0" anchor="b">
            <a:normAutofit/>
          </a:bodyPr>
          <a:lstStyle/>
          <a:p>
            <a:pPr marL="0" indent="0" algn="r">
              <a:buNone/>
            </a:pPr>
            <a:r>
              <a:rPr lang="en-US" dirty="0">
                <a:latin typeface="Calibri"/>
                <a:ea typeface="Calibri"/>
                <a:cs typeface="Calibri"/>
              </a:rPr>
              <a:t>Presented by Enwelum Chiamaka</a:t>
            </a:r>
          </a:p>
          <a:p>
            <a:pPr marL="0" indent="0" algn="r">
              <a:buNone/>
            </a:pPr>
            <a:r>
              <a:rPr lang="en-US" dirty="0">
                <a:latin typeface="Calibri"/>
                <a:ea typeface="Calibri"/>
                <a:cs typeface="Calibri"/>
              </a:rPr>
              <a:t>Tools: Python (EDA) | Power BI (Dashboard)</a:t>
            </a:r>
            <a:endParaRPr lang="en-US">
              <a:latin typeface="Calibri"/>
              <a:ea typeface="Calibri"/>
              <a:cs typeface="Calibri"/>
            </a:endParaRPr>
          </a:p>
        </p:txBody>
      </p:sp>
      <p:cxnSp>
        <p:nvCxnSpPr>
          <p:cNvPr id="7" name="Straight Connector 6">
            <a:extLst>
              <a:ext uri="{FF2B5EF4-FFF2-40B4-BE49-F238E27FC236}">
                <a16:creationId xmlns:a16="http://schemas.microsoft.com/office/drawing/2014/main" id="{1766FD2F-248A-4AA1-8078-E26D6E690B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9EE6F-750F-AFC0-C025-78CF32A11634}"/>
              </a:ext>
            </a:extLst>
          </p:cNvPr>
          <p:cNvSpPr>
            <a:spLocks noGrp="1"/>
          </p:cNvSpPr>
          <p:nvPr>
            <p:ph type="title"/>
          </p:nvPr>
        </p:nvSpPr>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Welcome to a Data Driven Insight</a:t>
            </a:r>
            <a:endParaRPr lang="en-NG"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79867B13-04D3-3D79-7C0B-ED319D006402}"/>
              </a:ext>
            </a:extLst>
          </p:cNvPr>
          <p:cNvSpPr>
            <a:spLocks noGrp="1"/>
          </p:cNvSpPr>
          <p:nvPr>
            <p:ph idx="1"/>
          </p:nvPr>
        </p:nvSpPr>
        <p:spPr/>
        <p:txBody>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Unlocking growth and optimizing Performance In an Ecommerce Analytics </a:t>
            </a:r>
            <a:endParaRPr lang="en-NG"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45711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FEAD8-EE42-8120-F016-1E34DBBB1930}"/>
              </a:ext>
            </a:extLst>
          </p:cNvPr>
          <p:cNvSpPr>
            <a:spLocks noGrp="1"/>
          </p:cNvSpPr>
          <p:nvPr>
            <p:ph type="title"/>
          </p:nvPr>
        </p:nvSpPr>
        <p:spPr/>
        <p:txBody>
          <a:bodyPr/>
          <a:lstStyle/>
          <a:p>
            <a:r>
              <a:rPr lang="en-US" dirty="0">
                <a:latin typeface="Calibri"/>
                <a:ea typeface="+mj-lt"/>
                <a:cs typeface="+mj-lt"/>
              </a:rPr>
              <a:t>Company Background</a:t>
            </a:r>
            <a:endParaRPr lang="en-US" dirty="0">
              <a:latin typeface="Calibri"/>
            </a:endParaRPr>
          </a:p>
        </p:txBody>
      </p:sp>
      <p:sp>
        <p:nvSpPr>
          <p:cNvPr id="3" name="Content Placeholder 2">
            <a:extLst>
              <a:ext uri="{FF2B5EF4-FFF2-40B4-BE49-F238E27FC236}">
                <a16:creationId xmlns:a16="http://schemas.microsoft.com/office/drawing/2014/main" id="{B5C7BA6A-AD64-EA16-10AF-B26C666774F8}"/>
              </a:ext>
            </a:extLst>
          </p:cNvPr>
          <p:cNvSpPr>
            <a:spLocks noGrp="1"/>
          </p:cNvSpPr>
          <p:nvPr>
            <p:ph idx="1"/>
          </p:nvPr>
        </p:nvSpPr>
        <p:spPr/>
        <p:txBody>
          <a:bodyPr vert="horz" lIns="91440" tIns="45720" rIns="91440" bIns="45720" rtlCol="0" anchor="t">
            <a:normAutofit/>
          </a:bodyPr>
          <a:lstStyle/>
          <a:p>
            <a:pPr marL="0" indent="0">
              <a:buNone/>
            </a:pPr>
            <a:r>
              <a:rPr lang="en-US" b="1" dirty="0">
                <a:latin typeface="Calibri"/>
                <a:ea typeface="+mn-lt"/>
                <a:cs typeface="+mn-lt"/>
              </a:rPr>
              <a:t>Brief overview of the company:</a:t>
            </a:r>
            <a:endParaRPr lang="en-US" b="1" dirty="0">
              <a:latin typeface="Calibri"/>
              <a:ea typeface="Calibri"/>
              <a:cs typeface="Calibri"/>
            </a:endParaRPr>
          </a:p>
          <a:p>
            <a:pPr marL="0" indent="0">
              <a:buNone/>
            </a:pPr>
            <a:r>
              <a:rPr lang="en-US" dirty="0">
                <a:latin typeface="Calibri"/>
                <a:ea typeface="+mn-lt"/>
                <a:cs typeface="+mn-lt"/>
              </a:rPr>
              <a:t>An e-commerce company is facing multiple operational challenges that hinder growth and customer satisfaction. To address these issues, the company is leveraging data-driven insights to optimize operations.</a:t>
            </a:r>
            <a:endParaRPr lang="en-US" dirty="0">
              <a:latin typeface="Calibri"/>
              <a:ea typeface="Calibri"/>
              <a:cs typeface="Calibri"/>
            </a:endParaRPr>
          </a:p>
          <a:p>
            <a:pPr marL="0" indent="0">
              <a:buNone/>
            </a:pPr>
            <a:endParaRPr lang="en-US" dirty="0">
              <a:latin typeface="Calibri"/>
              <a:ea typeface="+mn-lt"/>
              <a:cs typeface="+mn-lt"/>
            </a:endParaRPr>
          </a:p>
          <a:p>
            <a:pPr marL="0" indent="0">
              <a:buNone/>
            </a:pPr>
            <a:r>
              <a:rPr lang="en-US" b="1" dirty="0">
                <a:latin typeface="Calibri"/>
                <a:ea typeface="+mn-lt"/>
                <a:cs typeface="+mn-lt"/>
              </a:rPr>
              <a:t>Key business areas:</a:t>
            </a:r>
            <a:r>
              <a:rPr lang="en-US" dirty="0">
                <a:latin typeface="Calibri"/>
                <a:ea typeface="+mn-lt"/>
                <a:cs typeface="+mn-lt"/>
              </a:rPr>
              <a:t> financial performance, customer insights,  logistics &amp; fulfillment, product management, customer satisfaction &amp; returns</a:t>
            </a:r>
          </a:p>
          <a:p>
            <a:pPr marL="0" indent="0">
              <a:buNone/>
            </a:pPr>
            <a:r>
              <a:rPr lang="en-US" dirty="0">
                <a:solidFill>
                  <a:srgbClr val="FFFFFF"/>
                </a:solidFill>
                <a:latin typeface="Calibri"/>
                <a:ea typeface="+mn-lt"/>
                <a:cs typeface="+mn-lt"/>
              </a:rPr>
              <a:t>Dataset covers </a:t>
            </a:r>
            <a:r>
              <a:rPr lang="en-US" b="1" dirty="0">
                <a:solidFill>
                  <a:srgbClr val="FFFFFF"/>
                </a:solidFill>
                <a:latin typeface="Calibri"/>
                <a:ea typeface="+mn-lt"/>
                <a:cs typeface="+mn-lt"/>
              </a:rPr>
              <a:t>4 months of sales data</a:t>
            </a:r>
            <a:endParaRPr lang="en-US" dirty="0">
              <a:solidFill>
                <a:srgbClr val="FFFFFF"/>
              </a:solidFill>
              <a:latin typeface="Calibri"/>
              <a:ea typeface="+mn-lt"/>
              <a:cs typeface="+mn-lt"/>
            </a:endParaRPr>
          </a:p>
          <a:p>
            <a:pPr marL="0" indent="0">
              <a:buNone/>
            </a:pPr>
            <a:endParaRPr lang="en-US" dirty="0">
              <a:solidFill>
                <a:srgbClr val="FFFFFF"/>
              </a:solidFill>
              <a:ea typeface="+mn-lt"/>
              <a:cs typeface="+mn-lt"/>
            </a:endParaRPr>
          </a:p>
          <a:p>
            <a:pPr marL="0" indent="0">
              <a:buNone/>
            </a:pPr>
            <a:endParaRPr lang="en-US" dirty="0"/>
          </a:p>
        </p:txBody>
      </p:sp>
    </p:spTree>
    <p:extLst>
      <p:ext uri="{BB962C8B-B14F-4D97-AF65-F5344CB8AC3E}">
        <p14:creationId xmlns:p14="http://schemas.microsoft.com/office/powerpoint/2010/main" val="4221275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E64592-84BB-6089-9B0C-1BADAB26A56F}"/>
              </a:ext>
            </a:extLst>
          </p:cNvPr>
          <p:cNvSpPr>
            <a:spLocks noGrp="1"/>
          </p:cNvSpPr>
          <p:nvPr>
            <p:ph sz="half" idx="1"/>
          </p:nvPr>
        </p:nvSpPr>
        <p:spPr>
          <a:xfrm>
            <a:off x="1030941" y="1017206"/>
            <a:ext cx="4798979" cy="4884097"/>
          </a:xfrm>
        </p:spPr>
        <p:txBody>
          <a:bodyPr vert="horz" lIns="91440" tIns="45720" rIns="91440" bIns="45720" rtlCol="0" anchor="t">
            <a:normAutofit lnSpcReduction="10000"/>
          </a:bodyPr>
          <a:lstStyle/>
          <a:p>
            <a:pPr marL="0" indent="0">
              <a:buNone/>
            </a:pPr>
            <a:r>
              <a:rPr lang="en-US" sz="1600" b="1" dirty="0">
                <a:latin typeface="Calibri"/>
                <a:ea typeface="Calibri"/>
                <a:cs typeface="Calibri"/>
              </a:rPr>
              <a:t>FINANCIAL PERFORMANCE ANALYSIS</a:t>
            </a:r>
          </a:p>
          <a:p>
            <a:pPr marL="0" indent="0">
              <a:buNone/>
            </a:pPr>
            <a:r>
              <a:rPr lang="en-US" sz="1600" dirty="0">
                <a:latin typeface="Calibri"/>
                <a:ea typeface="+mn-lt"/>
                <a:cs typeface="+mn-lt"/>
              </a:rPr>
              <a:t>Analyzing total revenue growth over time. Identifying best-selling products and seasonal sales trends. Calculating the average order value to understand spending behavior</a:t>
            </a:r>
          </a:p>
          <a:p>
            <a:pPr marL="0" indent="0">
              <a:buNone/>
            </a:pPr>
            <a:r>
              <a:rPr lang="en-US" sz="1600" b="1" dirty="0">
                <a:latin typeface="Calibri"/>
                <a:ea typeface="+mn-lt"/>
                <a:cs typeface="+mn-lt"/>
              </a:rPr>
              <a:t>CUSTOMER INSIGHTS ANALYSIS</a:t>
            </a:r>
          </a:p>
          <a:p>
            <a:pPr marL="0" indent="0">
              <a:buNone/>
            </a:pPr>
            <a:r>
              <a:rPr lang="en-US" sz="1600" dirty="0">
                <a:latin typeface="Calibri"/>
                <a:ea typeface="+mn-lt"/>
                <a:cs typeface="+mn-lt"/>
              </a:rPr>
              <a:t>Identifying top-performing locations based on sales volume. Analyzing order cancellation trends and customer retention. Differentiating B2B vs. B2C customer behavior for targeted marketing</a:t>
            </a:r>
          </a:p>
          <a:p>
            <a:pPr marL="0" indent="0">
              <a:buNone/>
            </a:pPr>
            <a:r>
              <a:rPr lang="en-US" sz="1600" b="1" dirty="0">
                <a:latin typeface="Calibri"/>
                <a:ea typeface="Calibri"/>
                <a:cs typeface="Calibri"/>
              </a:rPr>
              <a:t>LOGISTICS &amp; FULFILLMENT OPTIMIZATION</a:t>
            </a:r>
          </a:p>
          <a:p>
            <a:pPr marL="0" indent="0">
              <a:buNone/>
            </a:pPr>
            <a:r>
              <a:rPr lang="en-US" sz="1600" dirty="0">
                <a:latin typeface="Calibri"/>
                <a:ea typeface="Calibri"/>
                <a:cs typeface="Calibri"/>
              </a:rPr>
              <a:t>Addressing shipping delays by calculating average shipping times. Comparing orders fulfilled by Amazon vs. Merchant fulfillment. Improving order processing for faster deliveries</a:t>
            </a:r>
          </a:p>
        </p:txBody>
      </p:sp>
      <p:sp>
        <p:nvSpPr>
          <p:cNvPr id="4" name="Content Placeholder 3">
            <a:extLst>
              <a:ext uri="{FF2B5EF4-FFF2-40B4-BE49-F238E27FC236}">
                <a16:creationId xmlns:a16="http://schemas.microsoft.com/office/drawing/2014/main" id="{81E4E62A-0C4A-3D4C-4637-98651BF2598F}"/>
              </a:ext>
            </a:extLst>
          </p:cNvPr>
          <p:cNvSpPr>
            <a:spLocks noGrp="1"/>
          </p:cNvSpPr>
          <p:nvPr>
            <p:ph sz="half" idx="2"/>
          </p:nvPr>
        </p:nvSpPr>
        <p:spPr>
          <a:xfrm>
            <a:off x="6250020" y="1017207"/>
            <a:ext cx="4798980" cy="4884096"/>
          </a:xfrm>
        </p:spPr>
        <p:txBody>
          <a:bodyPr vert="horz" lIns="91440" tIns="45720" rIns="91440" bIns="45720" rtlCol="0" anchor="t">
            <a:normAutofit lnSpcReduction="10000"/>
          </a:bodyPr>
          <a:lstStyle/>
          <a:p>
            <a:pPr marL="0" indent="0">
              <a:buNone/>
            </a:pPr>
            <a:r>
              <a:rPr lang="en-US" sz="1600" b="1" dirty="0">
                <a:latin typeface="Calibri"/>
                <a:ea typeface="+mn-lt"/>
                <a:cs typeface="+mn-lt"/>
              </a:rPr>
              <a:t>PRODUCT MANAGEMENT &amp; INVENTORY OPTIMIZATION</a:t>
            </a:r>
            <a:endParaRPr lang="en-US" sz="1600" b="1">
              <a:latin typeface="Calibri"/>
              <a:ea typeface="+mn-lt"/>
              <a:cs typeface="+mn-lt"/>
            </a:endParaRPr>
          </a:p>
          <a:p>
            <a:pPr marL="0" indent="0">
              <a:buNone/>
            </a:pPr>
            <a:r>
              <a:rPr lang="en-US" sz="1600" dirty="0">
                <a:latin typeface="Calibri"/>
                <a:ea typeface="+mn-lt"/>
                <a:cs typeface="+mn-lt"/>
              </a:rPr>
              <a:t>Identifying high-demand product categories. Analyzing the average quantity ordered for efficient stock management. Enhancing inventory control to prevent stockouts or overstocking</a:t>
            </a:r>
          </a:p>
          <a:p>
            <a:pPr marL="0" indent="0">
              <a:buNone/>
            </a:pPr>
            <a:r>
              <a:rPr lang="en-US" sz="1600" b="1" dirty="0">
                <a:latin typeface="Calibri"/>
                <a:ea typeface="+mn-lt"/>
                <a:cs typeface="+mn-lt"/>
              </a:rPr>
              <a:t>CUSTOMER SATISFACTION &amp; RETURNS</a:t>
            </a:r>
            <a:endParaRPr lang="en-US" sz="1600" b="1">
              <a:latin typeface="Calibri"/>
              <a:ea typeface="+mn-lt"/>
              <a:cs typeface="+mn-lt"/>
            </a:endParaRPr>
          </a:p>
          <a:p>
            <a:pPr marL="0" indent="0">
              <a:buNone/>
            </a:pPr>
            <a:r>
              <a:rPr lang="en-US" sz="1600" dirty="0">
                <a:latin typeface="Calibri"/>
                <a:ea typeface="+mn-lt"/>
                <a:cs typeface="+mn-lt"/>
              </a:rPr>
              <a:t>Investigating high return and cancellation rates. Identifying problematic products/categories to enhance quality. Improving customer experience through better service policies</a:t>
            </a:r>
          </a:p>
          <a:p>
            <a:pPr marL="0" indent="0">
              <a:buNone/>
            </a:pPr>
            <a:endParaRPr lang="en-US" sz="1700" dirty="0"/>
          </a:p>
        </p:txBody>
      </p:sp>
    </p:spTree>
    <p:extLst>
      <p:ext uri="{BB962C8B-B14F-4D97-AF65-F5344CB8AC3E}">
        <p14:creationId xmlns:p14="http://schemas.microsoft.com/office/powerpoint/2010/main" val="3479929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6F120-40A9-FDAE-C97D-75CD4AD116C5}"/>
              </a:ext>
            </a:extLst>
          </p:cNvPr>
          <p:cNvSpPr>
            <a:spLocks noGrp="1"/>
          </p:cNvSpPr>
          <p:nvPr>
            <p:ph type="title"/>
          </p:nvPr>
        </p:nvSpPr>
        <p:spPr/>
        <p:txBody>
          <a:bodyPr/>
          <a:lstStyle/>
          <a:p>
            <a:r>
              <a:rPr lang="en-US" dirty="0">
                <a:latin typeface="Calibri"/>
                <a:ea typeface="+mj-lt"/>
                <a:cs typeface="+mj-lt"/>
              </a:rPr>
              <a:t>Problem Statement</a:t>
            </a:r>
            <a:endParaRPr lang="en-US" dirty="0">
              <a:latin typeface="Calibri"/>
            </a:endParaRPr>
          </a:p>
        </p:txBody>
      </p:sp>
      <p:sp>
        <p:nvSpPr>
          <p:cNvPr id="3" name="Content Placeholder 2">
            <a:extLst>
              <a:ext uri="{FF2B5EF4-FFF2-40B4-BE49-F238E27FC236}">
                <a16:creationId xmlns:a16="http://schemas.microsoft.com/office/drawing/2014/main" id="{20978991-5176-FDDF-6B44-28ABC5089909}"/>
              </a:ext>
            </a:extLst>
          </p:cNvPr>
          <p:cNvSpPr>
            <a:spLocks noGrp="1"/>
          </p:cNvSpPr>
          <p:nvPr>
            <p:ph idx="1"/>
          </p:nvPr>
        </p:nvSpPr>
        <p:spPr/>
        <p:txBody>
          <a:bodyPr vert="horz" lIns="91440" tIns="45720" rIns="91440" bIns="45720" rtlCol="0" anchor="t">
            <a:normAutofit/>
          </a:bodyPr>
          <a:lstStyle/>
          <a:p>
            <a:pPr marL="0" indent="0" algn="just">
              <a:buNone/>
            </a:pPr>
            <a:r>
              <a:rPr lang="en-US" dirty="0">
                <a:latin typeface="Calibri"/>
                <a:ea typeface="+mn-lt"/>
                <a:cs typeface="+mn-lt"/>
              </a:rPr>
              <a:t>Orders are being delayed, canceled, or returned frequently, affecting customer satisfaction and revenue. The company wants to identify operational inefficiencies and optimize product and fulfillment performance.</a:t>
            </a:r>
            <a:endParaRPr lang="en-US" dirty="0">
              <a:latin typeface="Calibri"/>
              <a:ea typeface="Calibri"/>
              <a:cs typeface="Calibri"/>
            </a:endParaRPr>
          </a:p>
        </p:txBody>
      </p:sp>
    </p:spTree>
    <p:extLst>
      <p:ext uri="{BB962C8B-B14F-4D97-AF65-F5344CB8AC3E}">
        <p14:creationId xmlns:p14="http://schemas.microsoft.com/office/powerpoint/2010/main" val="478386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918A-B7A5-9F01-2B6F-7B7C5F5D7072}"/>
              </a:ext>
            </a:extLst>
          </p:cNvPr>
          <p:cNvSpPr>
            <a:spLocks noGrp="1"/>
          </p:cNvSpPr>
          <p:nvPr>
            <p:ph type="title"/>
          </p:nvPr>
        </p:nvSpPr>
        <p:spPr/>
        <p:txBody>
          <a:bodyPr/>
          <a:lstStyle/>
          <a:p>
            <a:r>
              <a:rPr lang="en-US" dirty="0">
                <a:latin typeface="Calibri"/>
                <a:ea typeface="+mj-lt"/>
                <a:cs typeface="+mj-lt"/>
              </a:rPr>
              <a:t>Challenges Faced</a:t>
            </a:r>
            <a:endParaRPr lang="en-US" dirty="0">
              <a:latin typeface="Walbaum Display"/>
            </a:endParaRPr>
          </a:p>
        </p:txBody>
      </p:sp>
      <p:sp>
        <p:nvSpPr>
          <p:cNvPr id="3" name="Content Placeholder 2">
            <a:extLst>
              <a:ext uri="{FF2B5EF4-FFF2-40B4-BE49-F238E27FC236}">
                <a16:creationId xmlns:a16="http://schemas.microsoft.com/office/drawing/2014/main" id="{1C74B6AA-3973-1A8B-0EDD-33E1A69D4735}"/>
              </a:ext>
            </a:extLst>
          </p:cNvPr>
          <p:cNvSpPr>
            <a:spLocks noGrp="1"/>
          </p:cNvSpPr>
          <p:nvPr>
            <p:ph idx="1"/>
          </p:nvPr>
        </p:nvSpPr>
        <p:spPr/>
        <p:txBody>
          <a:bodyPr vert="horz" lIns="91440" tIns="45720" rIns="91440" bIns="45720" rtlCol="0" anchor="t">
            <a:normAutofit/>
          </a:bodyPr>
          <a:lstStyle/>
          <a:p>
            <a:r>
              <a:rPr lang="en-US" dirty="0">
                <a:latin typeface="Calibri"/>
                <a:ea typeface="+mn-lt"/>
                <a:cs typeface="+mn-lt"/>
              </a:rPr>
              <a:t>Data quality issues (missing or inconsistent order statuses)</a:t>
            </a:r>
            <a:endParaRPr lang="en-US" dirty="0">
              <a:latin typeface="Calibri"/>
              <a:ea typeface="Calibri"/>
              <a:cs typeface="Calibri"/>
            </a:endParaRPr>
          </a:p>
          <a:p>
            <a:r>
              <a:rPr lang="en-US" dirty="0">
                <a:latin typeface="Calibri"/>
                <a:ea typeface="+mn-lt"/>
                <a:cs typeface="+mn-lt"/>
              </a:rPr>
              <a:t>Date hierarchies for trend analysis (month, week, weekday)</a:t>
            </a:r>
            <a:endParaRPr lang="en-US" dirty="0">
              <a:latin typeface="Calibri"/>
              <a:ea typeface="Calibri"/>
              <a:cs typeface="Calibri"/>
            </a:endParaRPr>
          </a:p>
          <a:p>
            <a:r>
              <a:rPr lang="en-US" dirty="0">
                <a:latin typeface="Calibri"/>
                <a:ea typeface="+mn-lt"/>
                <a:cs typeface="+mn-lt"/>
              </a:rPr>
              <a:t>Identifying operational KPIs in a concise one-page dashboard</a:t>
            </a:r>
            <a:endParaRPr lang="en-US" dirty="0">
              <a:latin typeface="Calibri"/>
            </a:endParaRPr>
          </a:p>
          <a:p>
            <a:endParaRPr lang="en-US" dirty="0"/>
          </a:p>
        </p:txBody>
      </p:sp>
    </p:spTree>
    <p:extLst>
      <p:ext uri="{BB962C8B-B14F-4D97-AF65-F5344CB8AC3E}">
        <p14:creationId xmlns:p14="http://schemas.microsoft.com/office/powerpoint/2010/main" val="3865543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data dashboard&#10;&#10;AI-generated content may be incorrect.">
            <a:extLst>
              <a:ext uri="{FF2B5EF4-FFF2-40B4-BE49-F238E27FC236}">
                <a16:creationId xmlns:a16="http://schemas.microsoft.com/office/drawing/2014/main" id="{EACA6449-5EA7-DF99-5508-B0C5A004DD16}"/>
              </a:ext>
            </a:extLst>
          </p:cNvPr>
          <p:cNvPicPr>
            <a:picLocks noChangeAspect="1"/>
          </p:cNvPicPr>
          <p:nvPr/>
        </p:nvPicPr>
        <p:blipFill>
          <a:blip r:embed="rId2"/>
          <a:stretch>
            <a:fillRect/>
          </a:stretch>
        </p:blipFill>
        <p:spPr>
          <a:xfrm>
            <a:off x="0" y="4963"/>
            <a:ext cx="12192000" cy="6848074"/>
          </a:xfrm>
          <a:prstGeom prst="rect">
            <a:avLst/>
          </a:prstGeom>
        </p:spPr>
      </p:pic>
    </p:spTree>
    <p:extLst>
      <p:ext uri="{BB962C8B-B14F-4D97-AF65-F5344CB8AC3E}">
        <p14:creationId xmlns:p14="http://schemas.microsoft.com/office/powerpoint/2010/main" val="1003042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62F3E-2E7E-491A-E31E-F43C913993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09DA1B-0730-3790-1CA2-EA73B61BE58F}"/>
              </a:ext>
            </a:extLst>
          </p:cNvPr>
          <p:cNvSpPr>
            <a:spLocks noGrp="1"/>
          </p:cNvSpPr>
          <p:nvPr>
            <p:ph type="title"/>
          </p:nvPr>
        </p:nvSpPr>
        <p:spPr>
          <a:xfrm>
            <a:off x="1143000" y="872935"/>
            <a:ext cx="9905999" cy="1024722"/>
          </a:xfrm>
        </p:spPr>
        <p:txBody>
          <a:bodyPr/>
          <a:lstStyle/>
          <a:p>
            <a:r>
              <a:rPr lang="en-US" dirty="0">
                <a:latin typeface="Calibri"/>
                <a:ea typeface="+mj-lt"/>
                <a:cs typeface="+mj-lt"/>
              </a:rPr>
              <a:t>Key Performance Indicators  </a:t>
            </a:r>
            <a:endParaRPr lang="en-US" dirty="0">
              <a:latin typeface="Calibri"/>
            </a:endParaRPr>
          </a:p>
        </p:txBody>
      </p:sp>
      <p:graphicFrame>
        <p:nvGraphicFramePr>
          <p:cNvPr id="5" name="Content Placeholder 2">
            <a:extLst>
              <a:ext uri="{FF2B5EF4-FFF2-40B4-BE49-F238E27FC236}">
                <a16:creationId xmlns:a16="http://schemas.microsoft.com/office/drawing/2014/main" id="{2A59DE45-7C5D-D9C6-A3F3-F6BCB69B3A3C}"/>
              </a:ext>
            </a:extLst>
          </p:cNvPr>
          <p:cNvGraphicFramePr>
            <a:graphicFrameLocks noGrp="1"/>
          </p:cNvGraphicFramePr>
          <p:nvPr>
            <p:ph idx="1"/>
            <p:extLst>
              <p:ext uri="{D42A27DB-BD31-4B8C-83A1-F6EECF244321}">
                <p14:modId xmlns:p14="http://schemas.microsoft.com/office/powerpoint/2010/main" val="3995631297"/>
              </p:ext>
            </p:extLst>
          </p:nvPr>
        </p:nvGraphicFramePr>
        <p:xfrm>
          <a:off x="1019736" y="2029468"/>
          <a:ext cx="10264059" cy="38696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820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BEA1A24-9CA1-4513-A409-3AD90DB091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318599-FF6B-82E1-28FA-A9F1D98FF931}"/>
              </a:ext>
            </a:extLst>
          </p:cNvPr>
          <p:cNvSpPr>
            <a:spLocks noGrp="1"/>
          </p:cNvSpPr>
          <p:nvPr>
            <p:ph type="title"/>
          </p:nvPr>
        </p:nvSpPr>
        <p:spPr>
          <a:xfrm>
            <a:off x="1398168" y="864133"/>
            <a:ext cx="8689571" cy="1037825"/>
          </a:xfrm>
        </p:spPr>
        <p:txBody>
          <a:bodyPr anchor="b">
            <a:normAutofit/>
          </a:bodyPr>
          <a:lstStyle/>
          <a:p>
            <a:r>
              <a:rPr lang="en-US" dirty="0">
                <a:latin typeface="Calibri"/>
                <a:ea typeface="+mj-lt"/>
                <a:cs typeface="+mj-lt"/>
              </a:rPr>
              <a:t>KPI Explanation</a:t>
            </a:r>
            <a:endParaRPr lang="en-US">
              <a:latin typeface="Calibri"/>
              <a:ea typeface="Calibri"/>
              <a:cs typeface="Calibri"/>
            </a:endParaRPr>
          </a:p>
        </p:txBody>
      </p:sp>
      <p:cxnSp>
        <p:nvCxnSpPr>
          <p:cNvPr id="12" name="Straight Connector 11">
            <a:extLst>
              <a:ext uri="{FF2B5EF4-FFF2-40B4-BE49-F238E27FC236}">
                <a16:creationId xmlns:a16="http://schemas.microsoft.com/office/drawing/2014/main" id="{3C0930BD-361E-4C4D-8B08-ED210DFA2D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5CA9589-1D35-7242-D2D0-765BA7E82F7C}"/>
              </a:ext>
            </a:extLst>
          </p:cNvPr>
          <p:cNvGraphicFramePr>
            <a:graphicFrameLocks noGrp="1"/>
          </p:cNvGraphicFramePr>
          <p:nvPr>
            <p:ph idx="1"/>
            <p:extLst>
              <p:ext uri="{D42A27DB-BD31-4B8C-83A1-F6EECF244321}">
                <p14:modId xmlns:p14="http://schemas.microsoft.com/office/powerpoint/2010/main" val="3441106219"/>
              </p:ext>
            </p:extLst>
          </p:nvPr>
        </p:nvGraphicFramePr>
        <p:xfrm>
          <a:off x="1232646" y="2390078"/>
          <a:ext cx="9960085" cy="2997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8783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DE7DD-D95E-6038-B734-8866C0A1AEBD}"/>
              </a:ext>
            </a:extLst>
          </p:cNvPr>
          <p:cNvSpPr>
            <a:spLocks noGrp="1"/>
          </p:cNvSpPr>
          <p:nvPr>
            <p:ph type="title"/>
          </p:nvPr>
        </p:nvSpPr>
        <p:spPr>
          <a:xfrm>
            <a:off x="1143000" y="872935"/>
            <a:ext cx="9905999" cy="1047134"/>
          </a:xfrm>
        </p:spPr>
        <p:txBody>
          <a:bodyPr/>
          <a:lstStyle/>
          <a:p>
            <a:r>
              <a:rPr lang="en-US" dirty="0">
                <a:latin typeface="Calibri"/>
                <a:ea typeface="Calibri"/>
                <a:cs typeface="Calibri"/>
              </a:rPr>
              <a:t>Delivery Performance </a:t>
            </a:r>
          </a:p>
        </p:txBody>
      </p:sp>
      <p:pic>
        <p:nvPicPr>
          <p:cNvPr id="6" name="Content Placeholder 5">
            <a:extLst>
              <a:ext uri="{FF2B5EF4-FFF2-40B4-BE49-F238E27FC236}">
                <a16:creationId xmlns:a16="http://schemas.microsoft.com/office/drawing/2014/main" id="{B696A423-C382-1FF1-8EE0-245572ECE3BE}"/>
              </a:ext>
            </a:extLst>
          </p:cNvPr>
          <p:cNvPicPr>
            <a:picLocks noGrp="1" noChangeAspect="1"/>
          </p:cNvPicPr>
          <p:nvPr>
            <p:ph sz="half" idx="1"/>
          </p:nvPr>
        </p:nvPicPr>
        <p:blipFill>
          <a:blip r:embed="rId2"/>
          <a:stretch>
            <a:fillRect/>
          </a:stretch>
        </p:blipFill>
        <p:spPr>
          <a:xfrm>
            <a:off x="1141630" y="2107267"/>
            <a:ext cx="3412191" cy="2636743"/>
          </a:xfrm>
          <a:prstGeom prst="rect">
            <a:avLst/>
          </a:prstGeom>
        </p:spPr>
      </p:pic>
      <p:sp>
        <p:nvSpPr>
          <p:cNvPr id="4" name="Content Placeholder 3">
            <a:extLst>
              <a:ext uri="{FF2B5EF4-FFF2-40B4-BE49-F238E27FC236}">
                <a16:creationId xmlns:a16="http://schemas.microsoft.com/office/drawing/2014/main" id="{8068C80E-4E86-E4E8-A891-B2669F124F9B}"/>
              </a:ext>
            </a:extLst>
          </p:cNvPr>
          <p:cNvSpPr>
            <a:spLocks noGrp="1"/>
          </p:cNvSpPr>
          <p:nvPr>
            <p:ph sz="half" idx="2"/>
          </p:nvPr>
        </p:nvSpPr>
        <p:spPr>
          <a:xfrm>
            <a:off x="4782050" y="2104177"/>
            <a:ext cx="6266950" cy="3550597"/>
          </a:xfrm>
        </p:spPr>
        <p:txBody>
          <a:bodyPr vert="horz" lIns="91440" tIns="45720" rIns="91440" bIns="45720" rtlCol="0" anchor="t">
            <a:normAutofit/>
          </a:bodyPr>
          <a:lstStyle/>
          <a:p>
            <a:pPr marL="0" indent="0" algn="just">
              <a:buNone/>
            </a:pPr>
            <a:r>
              <a:rPr lang="en-US" b="1" dirty="0">
                <a:latin typeface="Calibri"/>
                <a:ea typeface="Calibri"/>
                <a:cs typeface="Calibri"/>
              </a:rPr>
              <a:t>Purpose of the Chart:</a:t>
            </a:r>
            <a:r>
              <a:rPr lang="en-US" b="1" dirty="0">
                <a:latin typeface="Calibri"/>
                <a:ea typeface="+mn-lt"/>
                <a:cs typeface="+mn-lt"/>
              </a:rPr>
              <a:t> </a:t>
            </a:r>
            <a:r>
              <a:rPr lang="en-US" dirty="0">
                <a:latin typeface="Calibri"/>
                <a:ea typeface="+mn-lt"/>
                <a:cs typeface="+mn-lt"/>
              </a:rPr>
              <a:t>Shows how delivery speed and fulfillment method impact delivery performance. Helps identify which service level and fulfillment type achieve higher on-time delivery.</a:t>
            </a:r>
            <a:endParaRPr lang="en-US" dirty="0">
              <a:latin typeface="Calibri"/>
              <a:ea typeface="Calibri"/>
              <a:cs typeface="Calibri"/>
            </a:endParaRPr>
          </a:p>
          <a:p>
            <a:pPr marL="0" indent="0" algn="just">
              <a:buNone/>
            </a:pPr>
            <a:r>
              <a:rPr lang="en-US" b="1" dirty="0">
                <a:latin typeface="Calibri"/>
                <a:ea typeface="Calibri"/>
                <a:cs typeface="Calibri"/>
              </a:rPr>
              <a:t>Key Insight:</a:t>
            </a:r>
            <a:r>
              <a:rPr lang="en-US" dirty="0">
                <a:latin typeface="Calibri"/>
                <a:ea typeface="Calibri"/>
                <a:cs typeface="Calibri"/>
              </a:rPr>
              <a:t> </a:t>
            </a:r>
            <a:r>
              <a:rPr lang="en-US" dirty="0">
                <a:latin typeface="Calibri"/>
                <a:ea typeface="+mn-lt"/>
                <a:cs typeface="+mn-lt"/>
              </a:rPr>
              <a:t>Expedited shipping fulfilled by Amazon has significantly higher delivery numbers compared to standard shipping, indicating that faster shipping methods and reliable fulfillment partners improve operational efficiency.</a:t>
            </a:r>
            <a:endParaRPr lang="en-US" dirty="0">
              <a:latin typeface="Calibri"/>
              <a:ea typeface="Calibri"/>
              <a:cs typeface="Calibri"/>
            </a:endParaRPr>
          </a:p>
        </p:txBody>
      </p:sp>
    </p:spTree>
    <p:extLst>
      <p:ext uri="{BB962C8B-B14F-4D97-AF65-F5344CB8AC3E}">
        <p14:creationId xmlns:p14="http://schemas.microsoft.com/office/powerpoint/2010/main" val="4270839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4D07C-3A3C-7881-741F-CF802C8A05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5696B-CFCD-4CAF-7C77-F9F3FEE12B6E}"/>
              </a:ext>
            </a:extLst>
          </p:cNvPr>
          <p:cNvSpPr>
            <a:spLocks noGrp="1"/>
          </p:cNvSpPr>
          <p:nvPr>
            <p:ph type="title"/>
          </p:nvPr>
        </p:nvSpPr>
        <p:spPr>
          <a:xfrm>
            <a:off x="1143000" y="872935"/>
            <a:ext cx="9905999" cy="1047134"/>
          </a:xfrm>
        </p:spPr>
        <p:txBody>
          <a:bodyPr/>
          <a:lstStyle/>
          <a:p>
            <a:r>
              <a:rPr lang="en-US" dirty="0">
                <a:latin typeface="Calibri"/>
                <a:ea typeface="Calibri"/>
                <a:cs typeface="Calibri"/>
              </a:rPr>
              <a:t>Order Status</a:t>
            </a:r>
            <a:r>
              <a:rPr lang="en-US" dirty="0"/>
              <a:t> </a:t>
            </a:r>
          </a:p>
        </p:txBody>
      </p:sp>
      <p:pic>
        <p:nvPicPr>
          <p:cNvPr id="6" name="Content Placeholder 5">
            <a:extLst>
              <a:ext uri="{FF2B5EF4-FFF2-40B4-BE49-F238E27FC236}">
                <a16:creationId xmlns:a16="http://schemas.microsoft.com/office/drawing/2014/main" id="{7EB01F80-B8E3-8E05-D396-EF75C2A443F7}"/>
              </a:ext>
            </a:extLst>
          </p:cNvPr>
          <p:cNvPicPr>
            <a:picLocks noGrp="1" noChangeAspect="1"/>
          </p:cNvPicPr>
          <p:nvPr>
            <p:ph sz="half" idx="1"/>
          </p:nvPr>
        </p:nvPicPr>
        <p:blipFill>
          <a:blip r:embed="rId2"/>
          <a:stretch>
            <a:fillRect/>
          </a:stretch>
        </p:blipFill>
        <p:spPr>
          <a:xfrm>
            <a:off x="1147714" y="2257331"/>
            <a:ext cx="3434657" cy="2715235"/>
          </a:xfrm>
          <a:prstGeom prst="rect">
            <a:avLst/>
          </a:prstGeom>
        </p:spPr>
      </p:pic>
      <p:sp>
        <p:nvSpPr>
          <p:cNvPr id="4" name="Content Placeholder 3">
            <a:extLst>
              <a:ext uri="{FF2B5EF4-FFF2-40B4-BE49-F238E27FC236}">
                <a16:creationId xmlns:a16="http://schemas.microsoft.com/office/drawing/2014/main" id="{6B58CE8A-4A41-BBA3-1BA9-6BFEB0A82668}"/>
              </a:ext>
            </a:extLst>
          </p:cNvPr>
          <p:cNvSpPr>
            <a:spLocks noGrp="1"/>
          </p:cNvSpPr>
          <p:nvPr>
            <p:ph sz="half" idx="2"/>
          </p:nvPr>
        </p:nvSpPr>
        <p:spPr>
          <a:xfrm>
            <a:off x="4782050" y="2104177"/>
            <a:ext cx="6266950" cy="3550597"/>
          </a:xfrm>
        </p:spPr>
        <p:txBody>
          <a:bodyPr vert="horz" lIns="91440" tIns="45720" rIns="91440" bIns="45720" rtlCol="0" anchor="t">
            <a:normAutofit/>
          </a:bodyPr>
          <a:lstStyle/>
          <a:p>
            <a:pPr marL="0" indent="0" algn="just">
              <a:buNone/>
            </a:pPr>
            <a:r>
              <a:rPr lang="en-US" b="1" dirty="0">
                <a:latin typeface="Calibri"/>
                <a:ea typeface="Calibri"/>
                <a:cs typeface="Calibri"/>
              </a:rPr>
              <a:t>Purpose of the Chart:</a:t>
            </a:r>
            <a:r>
              <a:rPr lang="en-US" b="1" dirty="0">
                <a:latin typeface="Calibri"/>
                <a:ea typeface="+mn-lt"/>
                <a:cs typeface="+mn-lt"/>
              </a:rPr>
              <a:t> </a:t>
            </a:r>
            <a:r>
              <a:rPr lang="en-US" dirty="0">
                <a:latin typeface="Calibri"/>
                <a:ea typeface="+mn-lt"/>
                <a:cs typeface="+mn-lt"/>
              </a:rPr>
              <a:t>Provides a quick snapshot of how orders are completing versus failing. Highlights customer satisfaction and operational efficiency.</a:t>
            </a:r>
            <a:endParaRPr lang="en-US"/>
          </a:p>
          <a:p>
            <a:pPr marL="0" indent="0" algn="just">
              <a:buNone/>
            </a:pPr>
            <a:r>
              <a:rPr lang="en-US" b="1" dirty="0">
                <a:latin typeface="Calibri"/>
                <a:ea typeface="Calibri"/>
                <a:cs typeface="Calibri"/>
              </a:rPr>
              <a:t>Key Insight:</a:t>
            </a:r>
            <a:r>
              <a:rPr lang="en-US" dirty="0">
                <a:latin typeface="Calibri"/>
                <a:ea typeface="Calibri"/>
                <a:cs typeface="Calibri"/>
              </a:rPr>
              <a:t> </a:t>
            </a:r>
            <a:r>
              <a:rPr lang="en-US" dirty="0">
                <a:latin typeface="Calibri"/>
                <a:ea typeface="+mn-lt"/>
                <a:cs typeface="+mn-lt"/>
              </a:rPr>
              <a:t>Most orders (58.47%) were successfully delivered. However, a high percentage of canceled orders (37.27%) indicates operational challenges or customer dissatisfaction. Returned orders are relatively low (4.26%) but still point to product or fulfillment issues that need attention.</a:t>
            </a:r>
          </a:p>
        </p:txBody>
      </p:sp>
    </p:spTree>
    <p:extLst>
      <p:ext uri="{BB962C8B-B14F-4D97-AF65-F5344CB8AC3E}">
        <p14:creationId xmlns:p14="http://schemas.microsoft.com/office/powerpoint/2010/main" val="3805910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EA6FD-BE87-7B07-1837-6E619CD32C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FA26C-4FC8-156A-F4E6-43DDBE2CEE89}"/>
              </a:ext>
            </a:extLst>
          </p:cNvPr>
          <p:cNvSpPr>
            <a:spLocks noGrp="1"/>
          </p:cNvSpPr>
          <p:nvPr>
            <p:ph type="title"/>
          </p:nvPr>
        </p:nvSpPr>
        <p:spPr>
          <a:xfrm>
            <a:off x="1143000" y="872935"/>
            <a:ext cx="9905999" cy="1047134"/>
          </a:xfrm>
        </p:spPr>
        <p:txBody>
          <a:bodyPr/>
          <a:lstStyle/>
          <a:p>
            <a:r>
              <a:rPr lang="en-US" dirty="0">
                <a:latin typeface="Calibri"/>
                <a:ea typeface="Calibri"/>
                <a:cs typeface="Calibri"/>
              </a:rPr>
              <a:t>Monthly Revenue Trend </a:t>
            </a:r>
          </a:p>
        </p:txBody>
      </p:sp>
      <p:pic>
        <p:nvPicPr>
          <p:cNvPr id="6" name="Content Placeholder 5" descr="A graph with a line and numbers&#10;&#10;AI-generated content may be incorrect.">
            <a:extLst>
              <a:ext uri="{FF2B5EF4-FFF2-40B4-BE49-F238E27FC236}">
                <a16:creationId xmlns:a16="http://schemas.microsoft.com/office/drawing/2014/main" id="{BA9C6D80-4670-71D7-CE64-62A6D57C735F}"/>
              </a:ext>
            </a:extLst>
          </p:cNvPr>
          <p:cNvPicPr>
            <a:picLocks noGrp="1" noChangeAspect="1"/>
          </p:cNvPicPr>
          <p:nvPr>
            <p:ph sz="half" idx="1"/>
          </p:nvPr>
        </p:nvPicPr>
        <p:blipFill>
          <a:blip r:embed="rId2"/>
          <a:stretch>
            <a:fillRect/>
          </a:stretch>
        </p:blipFill>
        <p:spPr>
          <a:xfrm>
            <a:off x="1136169" y="2100957"/>
            <a:ext cx="3919564" cy="3328164"/>
          </a:xfrm>
          <a:prstGeom prst="rect">
            <a:avLst/>
          </a:prstGeom>
        </p:spPr>
      </p:pic>
      <p:sp>
        <p:nvSpPr>
          <p:cNvPr id="4" name="Content Placeholder 3">
            <a:extLst>
              <a:ext uri="{FF2B5EF4-FFF2-40B4-BE49-F238E27FC236}">
                <a16:creationId xmlns:a16="http://schemas.microsoft.com/office/drawing/2014/main" id="{995A8D41-0DBA-A330-A736-9154D1AE1524}"/>
              </a:ext>
            </a:extLst>
          </p:cNvPr>
          <p:cNvSpPr>
            <a:spLocks noGrp="1"/>
          </p:cNvSpPr>
          <p:nvPr>
            <p:ph sz="half" idx="2"/>
          </p:nvPr>
        </p:nvSpPr>
        <p:spPr>
          <a:xfrm>
            <a:off x="5209231" y="2104177"/>
            <a:ext cx="5989860" cy="3873869"/>
          </a:xfrm>
        </p:spPr>
        <p:txBody>
          <a:bodyPr vert="horz" lIns="91440" tIns="45720" rIns="91440" bIns="45720" rtlCol="0" anchor="t">
            <a:normAutofit/>
          </a:bodyPr>
          <a:lstStyle/>
          <a:p>
            <a:pPr marL="0" indent="0" algn="just">
              <a:buNone/>
            </a:pPr>
            <a:r>
              <a:rPr lang="en-US" b="1" dirty="0">
                <a:latin typeface="Calibri"/>
                <a:ea typeface="Calibri"/>
                <a:cs typeface="Calibri"/>
              </a:rPr>
              <a:t>Purpose of the Chart:</a:t>
            </a:r>
            <a:r>
              <a:rPr lang="en-US" b="1" dirty="0">
                <a:latin typeface="Calibri"/>
                <a:ea typeface="+mn-lt"/>
                <a:cs typeface="+mn-lt"/>
              </a:rPr>
              <a:t> </a:t>
            </a:r>
            <a:r>
              <a:rPr lang="en-US" dirty="0">
                <a:latin typeface="Calibri"/>
                <a:ea typeface="+mn-lt"/>
                <a:cs typeface="+mn-lt"/>
              </a:rPr>
              <a:t>Shows how revenue changes across each month within the analysis period.</a:t>
            </a:r>
            <a:endParaRPr lang="en-US"/>
          </a:p>
          <a:p>
            <a:pPr marL="0" indent="0" algn="just">
              <a:buNone/>
            </a:pPr>
            <a:r>
              <a:rPr lang="en-US" b="1" dirty="0">
                <a:latin typeface="Calibri"/>
                <a:ea typeface="+mn-lt"/>
                <a:cs typeface="+mn-lt"/>
              </a:rPr>
              <a:t>Key</a:t>
            </a:r>
            <a:r>
              <a:rPr lang="en-US" b="1" dirty="0">
                <a:latin typeface="Calibri"/>
                <a:ea typeface="Calibri"/>
                <a:cs typeface="Calibri"/>
              </a:rPr>
              <a:t> Insight:</a:t>
            </a:r>
            <a:r>
              <a:rPr lang="en-US" dirty="0">
                <a:latin typeface="Calibri"/>
                <a:ea typeface="Calibri"/>
                <a:cs typeface="Calibri"/>
              </a:rPr>
              <a:t> </a:t>
            </a:r>
            <a:r>
              <a:rPr lang="en-US" dirty="0">
                <a:latin typeface="Calibri"/>
                <a:ea typeface="+mn-lt"/>
                <a:cs typeface="+mn-lt"/>
              </a:rPr>
              <a:t>This chart shows how much money the company made each month. Revenue increased sharply in April, then reduced slightly in May and June, showing where growth happened and where improvement is needed.</a:t>
            </a:r>
          </a:p>
        </p:txBody>
      </p:sp>
    </p:spTree>
    <p:extLst>
      <p:ext uri="{BB962C8B-B14F-4D97-AF65-F5344CB8AC3E}">
        <p14:creationId xmlns:p14="http://schemas.microsoft.com/office/powerpoint/2010/main" val="723987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7C570-05EB-6375-8E2A-6E526CDFD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88362-49B2-6E2D-0186-5E4168A06BAC}"/>
              </a:ext>
            </a:extLst>
          </p:cNvPr>
          <p:cNvSpPr>
            <a:spLocks noGrp="1"/>
          </p:cNvSpPr>
          <p:nvPr>
            <p:ph type="title"/>
          </p:nvPr>
        </p:nvSpPr>
        <p:spPr>
          <a:xfrm>
            <a:off x="1143000" y="872935"/>
            <a:ext cx="9905999" cy="1047134"/>
          </a:xfrm>
        </p:spPr>
        <p:txBody>
          <a:bodyPr/>
          <a:lstStyle/>
          <a:p>
            <a:r>
              <a:rPr lang="en-US" dirty="0">
                <a:latin typeface="Calibri"/>
                <a:ea typeface="Calibri"/>
                <a:cs typeface="Calibri"/>
              </a:rPr>
              <a:t>Weekly Revenue Trend </a:t>
            </a:r>
          </a:p>
        </p:txBody>
      </p:sp>
      <p:pic>
        <p:nvPicPr>
          <p:cNvPr id="6" name="Content Placeholder 5" descr="A graph with numbers and a line&#10;&#10;AI-generated content may be incorrect.">
            <a:extLst>
              <a:ext uri="{FF2B5EF4-FFF2-40B4-BE49-F238E27FC236}">
                <a16:creationId xmlns:a16="http://schemas.microsoft.com/office/drawing/2014/main" id="{57FECEAE-B7B8-D4B3-AC13-92596E866EED}"/>
              </a:ext>
            </a:extLst>
          </p:cNvPr>
          <p:cNvPicPr>
            <a:picLocks noGrp="1" noChangeAspect="1"/>
          </p:cNvPicPr>
          <p:nvPr>
            <p:ph sz="half" idx="1"/>
          </p:nvPr>
        </p:nvPicPr>
        <p:blipFill>
          <a:blip r:embed="rId2"/>
          <a:stretch>
            <a:fillRect/>
          </a:stretch>
        </p:blipFill>
        <p:spPr>
          <a:xfrm>
            <a:off x="1147714" y="2250771"/>
            <a:ext cx="4046564" cy="2705263"/>
          </a:xfrm>
          <a:prstGeom prst="rect">
            <a:avLst/>
          </a:prstGeom>
        </p:spPr>
      </p:pic>
      <p:sp>
        <p:nvSpPr>
          <p:cNvPr id="4" name="Content Placeholder 3">
            <a:extLst>
              <a:ext uri="{FF2B5EF4-FFF2-40B4-BE49-F238E27FC236}">
                <a16:creationId xmlns:a16="http://schemas.microsoft.com/office/drawing/2014/main" id="{A5DE6111-E8C2-F1A9-E54A-53BC00117457}"/>
              </a:ext>
            </a:extLst>
          </p:cNvPr>
          <p:cNvSpPr>
            <a:spLocks noGrp="1"/>
          </p:cNvSpPr>
          <p:nvPr>
            <p:ph sz="half" idx="2"/>
          </p:nvPr>
        </p:nvSpPr>
        <p:spPr>
          <a:xfrm>
            <a:off x="5518448" y="2104177"/>
            <a:ext cx="5680643" cy="3873869"/>
          </a:xfrm>
        </p:spPr>
        <p:txBody>
          <a:bodyPr vert="horz" lIns="91440" tIns="45720" rIns="91440" bIns="45720" rtlCol="0" anchor="t">
            <a:normAutofit/>
          </a:bodyPr>
          <a:lstStyle/>
          <a:p>
            <a:pPr marL="0" indent="0">
              <a:buNone/>
            </a:pPr>
            <a:r>
              <a:rPr lang="en-US" b="1" dirty="0">
                <a:latin typeface="Calibri"/>
                <a:ea typeface="Calibri"/>
                <a:cs typeface="Calibri"/>
              </a:rPr>
              <a:t>Purpose of the Chart:</a:t>
            </a:r>
            <a:r>
              <a:rPr lang="en-US" b="1" dirty="0">
                <a:latin typeface="Calibri"/>
                <a:ea typeface="+mn-lt"/>
                <a:cs typeface="+mn-lt"/>
              </a:rPr>
              <a:t> </a:t>
            </a:r>
            <a:r>
              <a:rPr lang="en-US" dirty="0">
                <a:latin typeface="Calibri"/>
                <a:ea typeface="+mn-lt"/>
                <a:cs typeface="+mn-lt"/>
              </a:rPr>
              <a:t>Analyzes customer purchasing behavior across weekdays to identify high-performing and low-performing days.</a:t>
            </a:r>
          </a:p>
          <a:p>
            <a:pPr marL="0" indent="0">
              <a:buNone/>
            </a:pPr>
            <a:r>
              <a:rPr lang="en-US" b="1" dirty="0">
                <a:latin typeface="Calibri"/>
                <a:ea typeface="+mn-lt"/>
                <a:cs typeface="+mn-lt"/>
              </a:rPr>
              <a:t>Key</a:t>
            </a:r>
            <a:r>
              <a:rPr lang="en-US" b="1" dirty="0">
                <a:latin typeface="Calibri"/>
                <a:ea typeface="Calibri"/>
                <a:cs typeface="Calibri"/>
              </a:rPr>
              <a:t> Insight:</a:t>
            </a:r>
            <a:r>
              <a:rPr lang="en-US" dirty="0">
                <a:latin typeface="Calibri"/>
                <a:ea typeface="Calibri"/>
                <a:cs typeface="Calibri"/>
              </a:rPr>
              <a:t> </a:t>
            </a:r>
            <a:r>
              <a:rPr lang="en-US" dirty="0">
                <a:latin typeface="Calibri"/>
                <a:ea typeface="+mn-lt"/>
                <a:cs typeface="+mn-lt"/>
              </a:rPr>
              <a:t>Revenue is highest on Sundays and early in the week. Sales drop toward Thursday and Friday, showing when customers are most and least active.</a:t>
            </a:r>
          </a:p>
        </p:txBody>
      </p:sp>
    </p:spTree>
    <p:extLst>
      <p:ext uri="{BB962C8B-B14F-4D97-AF65-F5344CB8AC3E}">
        <p14:creationId xmlns:p14="http://schemas.microsoft.com/office/powerpoint/2010/main" val="2577260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986598-4B17-760E-7A28-B2081C8163BC}"/>
            </a:ext>
          </a:extLst>
        </p:cNvPr>
        <p:cNvGrpSpPr/>
        <p:nvPr/>
      </p:nvGrpSpPr>
      <p:grpSpPr>
        <a:xfrm>
          <a:off x="0" y="0"/>
          <a:ext cx="0" cy="0"/>
          <a:chOff x="0" y="0"/>
          <a:chExt cx="0" cy="0"/>
        </a:xfrm>
      </p:grpSpPr>
      <p:sp>
        <p:nvSpPr>
          <p:cNvPr id="23" name="Freeform: Shape 22">
            <a:extLst>
              <a:ext uri="{FF2B5EF4-FFF2-40B4-BE49-F238E27FC236}">
                <a16:creationId xmlns:a16="http://schemas.microsoft.com/office/drawing/2014/main" id="{91C2F78B-DEE8-4195-A196-DFC51BDAD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49268" y="4070878"/>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A1D79D08-4BE8-4799-BE09-5078DFEE22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25" name="Straight Connector 24">
            <a:extLst>
              <a:ext uri="{FF2B5EF4-FFF2-40B4-BE49-F238E27FC236}">
                <a16:creationId xmlns:a16="http://schemas.microsoft.com/office/drawing/2014/main" id="{C95D65A1-16CB-407F-993F-2A6D59BCC0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6" name="Rectangle 25">
            <a:extLst>
              <a:ext uri="{FF2B5EF4-FFF2-40B4-BE49-F238E27FC236}">
                <a16:creationId xmlns:a16="http://schemas.microsoft.com/office/drawing/2014/main" id="{5D3B97D3-3894-4963-90C5-4EAA66131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0072C9-7A7A-DAC4-C8D6-35D56BA62F39}"/>
              </a:ext>
            </a:extLst>
          </p:cNvPr>
          <p:cNvSpPr>
            <a:spLocks noGrp="1"/>
          </p:cNvSpPr>
          <p:nvPr>
            <p:ph type="title"/>
          </p:nvPr>
        </p:nvSpPr>
        <p:spPr>
          <a:xfrm>
            <a:off x="5250873" y="1126935"/>
            <a:ext cx="5764996" cy="863942"/>
          </a:xfrm>
        </p:spPr>
        <p:txBody>
          <a:bodyPr vert="horz" lIns="91440" tIns="45720" rIns="91440" bIns="45720" rtlCol="0" anchor="ctr">
            <a:normAutofit fontScale="90000"/>
          </a:bodyPr>
          <a:lstStyle/>
          <a:p>
            <a:r>
              <a:rPr lang="en-US" sz="3700" kern="1200" dirty="0">
                <a:latin typeface="Calibri"/>
                <a:ea typeface="Calibri"/>
                <a:cs typeface="Calibri"/>
              </a:rPr>
              <a:t>Top Problematic Products</a:t>
            </a:r>
            <a:br>
              <a:rPr lang="en-US" sz="3700" kern="1200" dirty="0"/>
            </a:br>
            <a:endParaRPr lang="en-US" sz="3700" kern="1200">
              <a:solidFill>
                <a:schemeClr val="tx1"/>
              </a:solidFill>
              <a:latin typeface="+mj-lt"/>
              <a:ea typeface="+mj-ea"/>
              <a:cs typeface="+mj-cs"/>
            </a:endParaRPr>
          </a:p>
        </p:txBody>
      </p:sp>
      <p:pic>
        <p:nvPicPr>
          <p:cNvPr id="6" name="Content Placeholder 5">
            <a:extLst>
              <a:ext uri="{FF2B5EF4-FFF2-40B4-BE49-F238E27FC236}">
                <a16:creationId xmlns:a16="http://schemas.microsoft.com/office/drawing/2014/main" id="{32FA4906-75A2-93ED-644F-A697C6A1EC08}"/>
              </a:ext>
            </a:extLst>
          </p:cNvPr>
          <p:cNvPicPr>
            <a:picLocks noGrp="1" noChangeAspect="1"/>
          </p:cNvPicPr>
          <p:nvPr>
            <p:ph sz="half" idx="1"/>
          </p:nvPr>
        </p:nvPicPr>
        <p:blipFill>
          <a:blip r:embed="rId2"/>
          <a:stretch>
            <a:fillRect/>
          </a:stretch>
        </p:blipFill>
        <p:spPr>
          <a:xfrm>
            <a:off x="1430484" y="1131088"/>
            <a:ext cx="2975262" cy="4525112"/>
          </a:xfrm>
          <a:prstGeom prst="rect">
            <a:avLst/>
          </a:prstGeom>
        </p:spPr>
      </p:pic>
      <p:sp>
        <p:nvSpPr>
          <p:cNvPr id="4" name="Content Placeholder 3">
            <a:extLst>
              <a:ext uri="{FF2B5EF4-FFF2-40B4-BE49-F238E27FC236}">
                <a16:creationId xmlns:a16="http://schemas.microsoft.com/office/drawing/2014/main" id="{53581D75-9F75-5531-D96D-15B232A9E6B4}"/>
              </a:ext>
            </a:extLst>
          </p:cNvPr>
          <p:cNvSpPr>
            <a:spLocks noGrp="1"/>
          </p:cNvSpPr>
          <p:nvPr>
            <p:ph sz="half" idx="2"/>
          </p:nvPr>
        </p:nvSpPr>
        <p:spPr>
          <a:xfrm>
            <a:off x="5250873" y="2031845"/>
            <a:ext cx="5751945" cy="4140355"/>
          </a:xfrm>
        </p:spPr>
        <p:txBody>
          <a:bodyPr vert="horz" lIns="91440" tIns="45720" rIns="91440" bIns="45720" rtlCol="0" anchor="t">
            <a:normAutofit/>
          </a:bodyPr>
          <a:lstStyle/>
          <a:p>
            <a:pPr marL="0" indent="0">
              <a:lnSpc>
                <a:spcPct val="110000"/>
              </a:lnSpc>
              <a:buNone/>
            </a:pPr>
            <a:r>
              <a:rPr lang="en-US" b="1" dirty="0">
                <a:latin typeface="Calibri"/>
                <a:ea typeface="Calibri"/>
                <a:cs typeface="Calibri"/>
              </a:rPr>
              <a:t>Purpose of the Chart: </a:t>
            </a:r>
            <a:r>
              <a:rPr lang="en-US" dirty="0">
                <a:latin typeface="Calibri"/>
                <a:ea typeface="Calibri"/>
                <a:cs typeface="Calibri"/>
              </a:rPr>
              <a:t>Identifies product styles with the highest number of failed orders to pinpoint operational and customer satisfaction issues.</a:t>
            </a:r>
          </a:p>
          <a:p>
            <a:pPr marL="0" indent="0">
              <a:lnSpc>
                <a:spcPct val="110000"/>
              </a:lnSpc>
              <a:buNone/>
            </a:pPr>
            <a:r>
              <a:rPr lang="en-US" b="1" dirty="0">
                <a:latin typeface="Calibri"/>
                <a:ea typeface="Calibri"/>
                <a:cs typeface="Calibri"/>
              </a:rPr>
              <a:t>Key Insight:</a:t>
            </a:r>
            <a:r>
              <a:rPr lang="en-US" dirty="0">
                <a:latin typeface="Calibri"/>
                <a:ea typeface="Calibri"/>
                <a:cs typeface="Calibri"/>
              </a:rPr>
              <a:t> </a:t>
            </a:r>
            <a:r>
              <a:rPr lang="en-US" dirty="0">
                <a:latin typeface="Calibri"/>
                <a:ea typeface="+mn-lt"/>
                <a:cs typeface="+mn-lt"/>
              </a:rPr>
              <a:t>A small number of product styles account for a large share of failed orders, with JNE3797 standing out as the biggest operational risk.</a:t>
            </a:r>
            <a:r>
              <a:rPr lang="en-US" dirty="0">
                <a:latin typeface="Calibri"/>
                <a:ea typeface="Calibri"/>
                <a:cs typeface="Calibri"/>
              </a:rPr>
              <a:t> The high concentration of failed orders around specific product styles suggests potential issues related to </a:t>
            </a:r>
            <a:r>
              <a:rPr lang="en-US" b="1" dirty="0">
                <a:latin typeface="Calibri"/>
                <a:ea typeface="Calibri"/>
                <a:cs typeface="Calibri"/>
              </a:rPr>
              <a:t>product quality, sizing, fulfillment accuracy, or customer expectations</a:t>
            </a:r>
            <a:r>
              <a:rPr lang="en-US" dirty="0">
                <a:latin typeface="Calibri"/>
                <a:ea typeface="Calibri"/>
                <a:cs typeface="Calibri"/>
              </a:rPr>
              <a:t>.</a:t>
            </a:r>
          </a:p>
        </p:txBody>
      </p:sp>
    </p:spTree>
    <p:extLst>
      <p:ext uri="{BB962C8B-B14F-4D97-AF65-F5344CB8AC3E}">
        <p14:creationId xmlns:p14="http://schemas.microsoft.com/office/powerpoint/2010/main" val="2794865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8A1C9-B152-4681-3A4D-7ACAC844A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622C48-9BC5-66FE-D9A7-2556BBB6D219}"/>
              </a:ext>
            </a:extLst>
          </p:cNvPr>
          <p:cNvSpPr>
            <a:spLocks noGrp="1"/>
          </p:cNvSpPr>
          <p:nvPr>
            <p:ph type="title"/>
          </p:nvPr>
        </p:nvSpPr>
        <p:spPr>
          <a:xfrm>
            <a:off x="1143000" y="872935"/>
            <a:ext cx="9905999" cy="1047134"/>
          </a:xfrm>
        </p:spPr>
        <p:txBody>
          <a:bodyPr/>
          <a:lstStyle/>
          <a:p>
            <a:r>
              <a:rPr lang="en-US" dirty="0">
                <a:latin typeface="Calibri"/>
                <a:ea typeface="Calibri"/>
                <a:cs typeface="Calibri"/>
              </a:rPr>
              <a:t>Top Performing City by Revenue </a:t>
            </a:r>
          </a:p>
        </p:txBody>
      </p:sp>
      <p:pic>
        <p:nvPicPr>
          <p:cNvPr id="6" name="Content Placeholder 5" descr="A graph of a number of cities&#10;&#10;AI-generated content may be incorrect.">
            <a:extLst>
              <a:ext uri="{FF2B5EF4-FFF2-40B4-BE49-F238E27FC236}">
                <a16:creationId xmlns:a16="http://schemas.microsoft.com/office/drawing/2014/main" id="{75ADC69E-EDF5-77FC-5248-768EEDF75CC2}"/>
              </a:ext>
            </a:extLst>
          </p:cNvPr>
          <p:cNvPicPr>
            <a:picLocks noGrp="1" noChangeAspect="1"/>
          </p:cNvPicPr>
          <p:nvPr>
            <p:ph sz="half" idx="1"/>
          </p:nvPr>
        </p:nvPicPr>
        <p:blipFill>
          <a:blip r:embed="rId2"/>
          <a:stretch>
            <a:fillRect/>
          </a:stretch>
        </p:blipFill>
        <p:spPr>
          <a:xfrm>
            <a:off x="1140727" y="2100680"/>
            <a:ext cx="4533900" cy="3132444"/>
          </a:xfrm>
          <a:prstGeom prst="rect">
            <a:avLst/>
          </a:prstGeom>
        </p:spPr>
      </p:pic>
      <p:sp>
        <p:nvSpPr>
          <p:cNvPr id="4" name="Content Placeholder 3">
            <a:extLst>
              <a:ext uri="{FF2B5EF4-FFF2-40B4-BE49-F238E27FC236}">
                <a16:creationId xmlns:a16="http://schemas.microsoft.com/office/drawing/2014/main" id="{600742B2-AA10-6277-37E8-A72E97BB2861}"/>
              </a:ext>
            </a:extLst>
          </p:cNvPr>
          <p:cNvSpPr>
            <a:spLocks noGrp="1"/>
          </p:cNvSpPr>
          <p:nvPr>
            <p:ph sz="half" idx="2"/>
          </p:nvPr>
        </p:nvSpPr>
        <p:spPr>
          <a:xfrm>
            <a:off x="5795538" y="2104177"/>
            <a:ext cx="5265008" cy="3873869"/>
          </a:xfrm>
        </p:spPr>
        <p:txBody>
          <a:bodyPr vert="horz" lIns="91440" tIns="45720" rIns="91440" bIns="45720" rtlCol="0" anchor="t">
            <a:normAutofit/>
          </a:bodyPr>
          <a:lstStyle/>
          <a:p>
            <a:pPr marL="0" indent="0">
              <a:buNone/>
            </a:pPr>
            <a:r>
              <a:rPr lang="en-US" b="1" dirty="0">
                <a:latin typeface="Calibri"/>
                <a:ea typeface="Calibri"/>
                <a:cs typeface="Calibri"/>
              </a:rPr>
              <a:t>Purpose of the Chart:</a:t>
            </a:r>
            <a:r>
              <a:rPr lang="en-US" b="1" dirty="0">
                <a:latin typeface="Calibri"/>
                <a:ea typeface="+mn-lt"/>
                <a:cs typeface="+mn-lt"/>
              </a:rPr>
              <a:t> </a:t>
            </a:r>
            <a:r>
              <a:rPr lang="en-US" dirty="0">
                <a:latin typeface="Calibri"/>
                <a:ea typeface="+mn-lt"/>
                <a:cs typeface="+mn-lt"/>
              </a:rPr>
              <a:t>To identify the highest-revenue-generating cities and understand where the business is currently strongest geographically.</a:t>
            </a:r>
          </a:p>
          <a:p>
            <a:pPr marL="0" indent="0">
              <a:buNone/>
            </a:pPr>
            <a:r>
              <a:rPr lang="en-US" b="1" dirty="0">
                <a:latin typeface="Calibri"/>
                <a:ea typeface="+mn-lt"/>
                <a:cs typeface="+mn-lt"/>
              </a:rPr>
              <a:t>Key</a:t>
            </a:r>
            <a:r>
              <a:rPr lang="en-US" b="1" dirty="0">
                <a:latin typeface="Calibri"/>
                <a:ea typeface="Calibri"/>
                <a:cs typeface="Calibri"/>
              </a:rPr>
              <a:t> Insight:</a:t>
            </a:r>
            <a:r>
              <a:rPr lang="en-US" dirty="0">
                <a:latin typeface="Calibri"/>
                <a:ea typeface="Calibri"/>
                <a:cs typeface="Calibri"/>
              </a:rPr>
              <a:t> </a:t>
            </a:r>
            <a:r>
              <a:rPr lang="en-US" dirty="0">
                <a:latin typeface="Calibri"/>
                <a:ea typeface="+mn-lt"/>
                <a:cs typeface="+mn-lt"/>
              </a:rPr>
              <a:t>Bengaluru, Hyderabad, and Mumbai dominate revenue among the top 10 cities.</a:t>
            </a:r>
          </a:p>
        </p:txBody>
      </p:sp>
    </p:spTree>
    <p:extLst>
      <p:ext uri="{BB962C8B-B14F-4D97-AF65-F5344CB8AC3E}">
        <p14:creationId xmlns:p14="http://schemas.microsoft.com/office/powerpoint/2010/main" val="3011183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39B78-B2E5-3483-1FF4-9AC393CA4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3409FE-0378-662D-CC68-E280116C6B6B}"/>
              </a:ext>
            </a:extLst>
          </p:cNvPr>
          <p:cNvSpPr>
            <a:spLocks noGrp="1"/>
          </p:cNvSpPr>
          <p:nvPr>
            <p:ph type="title"/>
          </p:nvPr>
        </p:nvSpPr>
        <p:spPr>
          <a:xfrm>
            <a:off x="1143000" y="872935"/>
            <a:ext cx="9905999" cy="1047134"/>
          </a:xfrm>
        </p:spPr>
        <p:txBody>
          <a:bodyPr/>
          <a:lstStyle/>
          <a:p>
            <a:r>
              <a:rPr lang="en-US" dirty="0">
                <a:latin typeface="Calibri"/>
                <a:ea typeface="Calibri"/>
                <a:cs typeface="Calibri"/>
              </a:rPr>
              <a:t>Revenue by Sales Channels  </a:t>
            </a:r>
          </a:p>
        </p:txBody>
      </p:sp>
      <p:pic>
        <p:nvPicPr>
          <p:cNvPr id="6" name="Content Placeholder 5" descr="A blue squares with black text&#10;&#10;AI-generated content may be incorrect.">
            <a:extLst>
              <a:ext uri="{FF2B5EF4-FFF2-40B4-BE49-F238E27FC236}">
                <a16:creationId xmlns:a16="http://schemas.microsoft.com/office/drawing/2014/main" id="{67B91F99-61FE-B9FD-F95D-C6DA99534170}"/>
              </a:ext>
            </a:extLst>
          </p:cNvPr>
          <p:cNvPicPr>
            <a:picLocks noGrp="1" noChangeAspect="1"/>
          </p:cNvPicPr>
          <p:nvPr>
            <p:ph sz="half" idx="1"/>
          </p:nvPr>
        </p:nvPicPr>
        <p:blipFill>
          <a:blip r:embed="rId2"/>
          <a:stretch>
            <a:fillRect/>
          </a:stretch>
        </p:blipFill>
        <p:spPr>
          <a:xfrm>
            <a:off x="1140727" y="2213712"/>
            <a:ext cx="4533900" cy="3206561"/>
          </a:xfrm>
          <a:prstGeom prst="rect">
            <a:avLst/>
          </a:prstGeom>
        </p:spPr>
      </p:pic>
      <p:sp>
        <p:nvSpPr>
          <p:cNvPr id="4" name="Content Placeholder 3">
            <a:extLst>
              <a:ext uri="{FF2B5EF4-FFF2-40B4-BE49-F238E27FC236}">
                <a16:creationId xmlns:a16="http://schemas.microsoft.com/office/drawing/2014/main" id="{524B7545-D981-46FE-FECA-9260E6483D2E}"/>
              </a:ext>
            </a:extLst>
          </p:cNvPr>
          <p:cNvSpPr>
            <a:spLocks noGrp="1"/>
          </p:cNvSpPr>
          <p:nvPr>
            <p:ph sz="half" idx="2"/>
          </p:nvPr>
        </p:nvSpPr>
        <p:spPr>
          <a:xfrm>
            <a:off x="5795538" y="2104177"/>
            <a:ext cx="5265008" cy="3873869"/>
          </a:xfrm>
        </p:spPr>
        <p:txBody>
          <a:bodyPr vert="horz" lIns="91440" tIns="45720" rIns="91440" bIns="45720" rtlCol="0" anchor="t">
            <a:normAutofit/>
          </a:bodyPr>
          <a:lstStyle/>
          <a:p>
            <a:pPr marL="0" indent="0">
              <a:buNone/>
            </a:pPr>
            <a:r>
              <a:rPr lang="en-US" b="1" dirty="0">
                <a:latin typeface="Calibri"/>
                <a:ea typeface="Calibri"/>
                <a:cs typeface="Calibri"/>
              </a:rPr>
              <a:t>Purpose of the Chart:</a:t>
            </a:r>
            <a:r>
              <a:rPr lang="en-US" b="1" dirty="0">
                <a:latin typeface="Calibri"/>
                <a:ea typeface="+mn-lt"/>
                <a:cs typeface="+mn-lt"/>
              </a:rPr>
              <a:t> </a:t>
            </a:r>
            <a:r>
              <a:rPr lang="en-US" dirty="0">
                <a:latin typeface="Calibri"/>
                <a:ea typeface="+mn-lt"/>
                <a:cs typeface="+mn-lt"/>
              </a:rPr>
              <a:t>To evaluate how revenue is distributed across sales channels and assess the company’s dependence on each channel.</a:t>
            </a:r>
          </a:p>
          <a:p>
            <a:pPr marL="0" indent="0">
              <a:buNone/>
            </a:pPr>
            <a:r>
              <a:rPr lang="en-US" b="1" dirty="0">
                <a:latin typeface="Calibri"/>
                <a:ea typeface="+mn-lt"/>
                <a:cs typeface="+mn-lt"/>
              </a:rPr>
              <a:t>Key</a:t>
            </a:r>
            <a:r>
              <a:rPr lang="en-US" b="1" dirty="0">
                <a:latin typeface="Calibri"/>
                <a:ea typeface="Calibri"/>
                <a:cs typeface="Calibri"/>
              </a:rPr>
              <a:t> Insight:</a:t>
            </a:r>
            <a:r>
              <a:rPr lang="en-US" dirty="0">
                <a:latin typeface="Calibri"/>
                <a:ea typeface="Calibri"/>
                <a:cs typeface="Calibri"/>
              </a:rPr>
              <a:t> </a:t>
            </a:r>
            <a:r>
              <a:rPr lang="en-US" dirty="0">
                <a:latin typeface="Calibri"/>
                <a:ea typeface="+mn-lt"/>
                <a:cs typeface="+mn-lt"/>
              </a:rPr>
              <a:t> While Amazon.in is a strong revenue driver, the low contribution from non-Amazon channels highlights a </a:t>
            </a:r>
            <a:r>
              <a:rPr lang="en-US" b="1" dirty="0">
                <a:latin typeface="Calibri"/>
                <a:ea typeface="+mn-lt"/>
                <a:cs typeface="+mn-lt"/>
              </a:rPr>
              <a:t>potential risk of channel dependency</a:t>
            </a:r>
            <a:r>
              <a:rPr lang="en-US" dirty="0">
                <a:latin typeface="Calibri"/>
                <a:ea typeface="+mn-lt"/>
                <a:cs typeface="+mn-lt"/>
              </a:rPr>
              <a:t> and an </a:t>
            </a:r>
            <a:r>
              <a:rPr lang="en-US" b="1" dirty="0">
                <a:latin typeface="Calibri"/>
                <a:ea typeface="+mn-lt"/>
                <a:cs typeface="+mn-lt"/>
              </a:rPr>
              <a:t>opportunity to diversify revenue sources</a:t>
            </a:r>
            <a:r>
              <a:rPr lang="en-US" dirty="0">
                <a:latin typeface="Calibri"/>
                <a:ea typeface="+mn-lt"/>
                <a:cs typeface="+mn-lt"/>
              </a:rPr>
              <a:t>.</a:t>
            </a:r>
          </a:p>
        </p:txBody>
      </p:sp>
    </p:spTree>
    <p:extLst>
      <p:ext uri="{BB962C8B-B14F-4D97-AF65-F5344CB8AC3E}">
        <p14:creationId xmlns:p14="http://schemas.microsoft.com/office/powerpoint/2010/main" val="338296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EA881-3CB4-8A6F-2C07-9812C23D57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1EC5C5-0185-D3F3-ADFE-263C5A90E4B5}"/>
              </a:ext>
            </a:extLst>
          </p:cNvPr>
          <p:cNvSpPr>
            <a:spLocks noGrp="1"/>
          </p:cNvSpPr>
          <p:nvPr>
            <p:ph type="title"/>
          </p:nvPr>
        </p:nvSpPr>
        <p:spPr>
          <a:xfrm>
            <a:off x="1143000" y="872935"/>
            <a:ext cx="9905999" cy="1047134"/>
          </a:xfrm>
        </p:spPr>
        <p:txBody>
          <a:bodyPr/>
          <a:lstStyle/>
          <a:p>
            <a:r>
              <a:rPr lang="en-US" dirty="0">
                <a:latin typeface="Calibri"/>
                <a:ea typeface="Calibri"/>
                <a:cs typeface="Calibri"/>
              </a:rPr>
              <a:t>Revenue by Category</a:t>
            </a:r>
          </a:p>
        </p:txBody>
      </p:sp>
      <p:pic>
        <p:nvPicPr>
          <p:cNvPr id="6" name="Content Placeholder 5" descr="A graph with numbers and text&#10;&#10;AI-generated content may be incorrect.">
            <a:extLst>
              <a:ext uri="{FF2B5EF4-FFF2-40B4-BE49-F238E27FC236}">
                <a16:creationId xmlns:a16="http://schemas.microsoft.com/office/drawing/2014/main" id="{F90C918C-C310-14CB-1C36-621777D6B1B4}"/>
              </a:ext>
            </a:extLst>
          </p:cNvPr>
          <p:cNvPicPr>
            <a:picLocks noGrp="1" noChangeAspect="1"/>
          </p:cNvPicPr>
          <p:nvPr>
            <p:ph sz="half" idx="1"/>
          </p:nvPr>
        </p:nvPicPr>
        <p:blipFill>
          <a:blip r:embed="rId2"/>
          <a:stretch>
            <a:fillRect/>
          </a:stretch>
        </p:blipFill>
        <p:spPr>
          <a:xfrm>
            <a:off x="1140727" y="2231333"/>
            <a:ext cx="4533900" cy="3171318"/>
          </a:xfrm>
          <a:prstGeom prst="rect">
            <a:avLst/>
          </a:prstGeom>
        </p:spPr>
      </p:pic>
      <p:sp>
        <p:nvSpPr>
          <p:cNvPr id="4" name="Content Placeholder 3">
            <a:extLst>
              <a:ext uri="{FF2B5EF4-FFF2-40B4-BE49-F238E27FC236}">
                <a16:creationId xmlns:a16="http://schemas.microsoft.com/office/drawing/2014/main" id="{969F8AD6-4129-EA42-3539-4523F7CD0420}"/>
              </a:ext>
            </a:extLst>
          </p:cNvPr>
          <p:cNvSpPr>
            <a:spLocks noGrp="1"/>
          </p:cNvSpPr>
          <p:nvPr>
            <p:ph sz="half" idx="2"/>
          </p:nvPr>
        </p:nvSpPr>
        <p:spPr>
          <a:xfrm>
            <a:off x="5795538" y="2104177"/>
            <a:ext cx="5265008" cy="3873869"/>
          </a:xfrm>
        </p:spPr>
        <p:txBody>
          <a:bodyPr vert="horz" lIns="91440" tIns="45720" rIns="91440" bIns="45720" rtlCol="0" anchor="t">
            <a:normAutofit/>
          </a:bodyPr>
          <a:lstStyle/>
          <a:p>
            <a:pPr marL="0" indent="0">
              <a:buNone/>
            </a:pPr>
            <a:r>
              <a:rPr lang="en-US" b="1" dirty="0">
                <a:latin typeface="Calibri"/>
                <a:ea typeface="Calibri"/>
                <a:cs typeface="Calibri"/>
              </a:rPr>
              <a:t>Purpose of the Chart:</a:t>
            </a:r>
            <a:r>
              <a:rPr lang="en-US" b="1" dirty="0">
                <a:latin typeface="Calibri"/>
                <a:ea typeface="+mn-lt"/>
                <a:cs typeface="+mn-lt"/>
              </a:rPr>
              <a:t> </a:t>
            </a:r>
            <a:r>
              <a:rPr lang="en-US" dirty="0">
                <a:latin typeface="Calibri"/>
                <a:ea typeface="+mn-lt"/>
                <a:cs typeface="+mn-lt"/>
              </a:rPr>
              <a:t>To identify which product categories drive the most revenue and understand customer purchase preferences.</a:t>
            </a:r>
          </a:p>
          <a:p>
            <a:pPr marL="0" indent="0">
              <a:buNone/>
            </a:pPr>
            <a:r>
              <a:rPr lang="en-US" b="1" dirty="0">
                <a:latin typeface="Calibri"/>
                <a:ea typeface="+mn-lt"/>
                <a:cs typeface="+mn-lt"/>
              </a:rPr>
              <a:t>Key</a:t>
            </a:r>
            <a:r>
              <a:rPr lang="en-US" b="1" dirty="0">
                <a:latin typeface="Calibri"/>
                <a:ea typeface="Calibri"/>
                <a:cs typeface="Calibri"/>
              </a:rPr>
              <a:t> Insight:</a:t>
            </a:r>
            <a:r>
              <a:rPr lang="en-US" dirty="0">
                <a:latin typeface="Calibri"/>
                <a:ea typeface="Calibri"/>
                <a:cs typeface="Calibri"/>
              </a:rPr>
              <a:t> </a:t>
            </a:r>
            <a:r>
              <a:rPr lang="en-US" dirty="0">
                <a:latin typeface="Calibri"/>
                <a:ea typeface="+mn-lt"/>
                <a:cs typeface="+mn-lt"/>
              </a:rPr>
              <a:t> Revenue is highly concentrated in a few categories, indicating that </a:t>
            </a:r>
            <a:r>
              <a:rPr lang="en-US" b="1" dirty="0">
                <a:latin typeface="Calibri"/>
                <a:ea typeface="+mn-lt"/>
                <a:cs typeface="+mn-lt"/>
              </a:rPr>
              <a:t>Sets, Kurtas and western dress </a:t>
            </a:r>
            <a:r>
              <a:rPr lang="en-US" dirty="0">
                <a:latin typeface="Calibri"/>
                <a:ea typeface="+mn-lt"/>
                <a:cs typeface="+mn-lt"/>
              </a:rPr>
              <a:t>are the company’s core revenue</a:t>
            </a:r>
            <a:r>
              <a:rPr lang="en-US" b="1" dirty="0">
                <a:latin typeface="Calibri"/>
                <a:ea typeface="+mn-lt"/>
                <a:cs typeface="+mn-lt"/>
              </a:rPr>
              <a:t> </a:t>
            </a:r>
            <a:r>
              <a:rPr lang="en-US" dirty="0">
                <a:latin typeface="Calibri"/>
                <a:ea typeface="+mn-lt"/>
                <a:cs typeface="+mn-lt"/>
              </a:rPr>
              <a:t>drivers, while several categories underperform and may require repositioning, promotion, or rationalization.</a:t>
            </a:r>
          </a:p>
        </p:txBody>
      </p:sp>
    </p:spTree>
    <p:extLst>
      <p:ext uri="{BB962C8B-B14F-4D97-AF65-F5344CB8AC3E}">
        <p14:creationId xmlns:p14="http://schemas.microsoft.com/office/powerpoint/2010/main" val="1937188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ABD21-AF80-5CA3-FAB6-F4ED0013D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C04C42-2211-EF49-253D-323FEA77F54D}"/>
              </a:ext>
            </a:extLst>
          </p:cNvPr>
          <p:cNvSpPr>
            <a:spLocks noGrp="1"/>
          </p:cNvSpPr>
          <p:nvPr>
            <p:ph type="title"/>
          </p:nvPr>
        </p:nvSpPr>
        <p:spPr>
          <a:xfrm>
            <a:off x="1143000" y="693641"/>
            <a:ext cx="9905999" cy="1024722"/>
          </a:xfrm>
        </p:spPr>
        <p:txBody>
          <a:bodyPr/>
          <a:lstStyle/>
          <a:p>
            <a:r>
              <a:rPr lang="en-US" dirty="0">
                <a:latin typeface="Calibri"/>
                <a:ea typeface="+mj-lt"/>
                <a:cs typeface="+mj-lt"/>
              </a:rPr>
              <a:t>Conclusion</a:t>
            </a:r>
            <a:endParaRPr lang="en-US" dirty="0">
              <a:latin typeface="Calibri"/>
            </a:endParaRPr>
          </a:p>
        </p:txBody>
      </p:sp>
      <p:sp>
        <p:nvSpPr>
          <p:cNvPr id="3" name="Content Placeholder 2">
            <a:extLst>
              <a:ext uri="{FF2B5EF4-FFF2-40B4-BE49-F238E27FC236}">
                <a16:creationId xmlns:a16="http://schemas.microsoft.com/office/drawing/2014/main" id="{F2B59615-7A56-1B9A-2735-0A471BA18CDB}"/>
              </a:ext>
            </a:extLst>
          </p:cNvPr>
          <p:cNvSpPr>
            <a:spLocks noGrp="1"/>
          </p:cNvSpPr>
          <p:nvPr>
            <p:ph idx="1"/>
          </p:nvPr>
        </p:nvSpPr>
        <p:spPr>
          <a:xfrm>
            <a:off x="1143000" y="1728859"/>
            <a:ext cx="9905999" cy="4170285"/>
          </a:xfrm>
        </p:spPr>
        <p:txBody>
          <a:bodyPr vert="horz" lIns="91440" tIns="45720" rIns="91440" bIns="45720" rtlCol="0" anchor="t">
            <a:normAutofit fontScale="85000" lnSpcReduction="20000"/>
          </a:bodyPr>
          <a:lstStyle/>
          <a:p>
            <a:pPr marL="0" indent="0">
              <a:buNone/>
            </a:pPr>
            <a:r>
              <a:rPr lang="en-US" dirty="0">
                <a:latin typeface="Calibri"/>
                <a:ea typeface="+mn-lt"/>
                <a:cs typeface="+mn-lt"/>
              </a:rPr>
              <a:t>The analysis of the e-commerce and retail store data highlights several key insights:</a:t>
            </a:r>
            <a:endParaRPr lang="en-US">
              <a:latin typeface="Calibri"/>
              <a:ea typeface="Calibri"/>
              <a:cs typeface="Calibri"/>
            </a:endParaRPr>
          </a:p>
          <a:p>
            <a:r>
              <a:rPr lang="en-US" b="1" dirty="0">
                <a:latin typeface="Calibri"/>
                <a:ea typeface="+mn-lt"/>
                <a:cs typeface="+mn-lt"/>
              </a:rPr>
              <a:t>Revenue Performance:</a:t>
            </a:r>
            <a:r>
              <a:rPr lang="en-US" dirty="0">
                <a:latin typeface="Calibri"/>
                <a:ea typeface="+mn-lt"/>
                <a:cs typeface="+mn-lt"/>
              </a:rPr>
              <a:t> Strong growth was observed in April, with total revenue driven primarily by Amazon.in and top categories such as Sets, Kurtas, and Western Dresses.</a:t>
            </a:r>
          </a:p>
          <a:p>
            <a:r>
              <a:rPr lang="en-US" b="1" dirty="0">
                <a:latin typeface="Calibri"/>
                <a:ea typeface="+mn-lt"/>
                <a:cs typeface="+mn-lt"/>
              </a:rPr>
              <a:t>Customer &amp; Operational Insights:</a:t>
            </a:r>
            <a:r>
              <a:rPr lang="en-US" dirty="0">
                <a:latin typeface="Calibri"/>
                <a:ea typeface="+mn-lt"/>
                <a:cs typeface="+mn-lt"/>
              </a:rPr>
              <a:t> Delivered orders constitute 58.47% of total orders, but a high cancellation rate (37.27%) indicates operational or fulfillment challenges.</a:t>
            </a:r>
          </a:p>
          <a:p>
            <a:r>
              <a:rPr lang="en-US" b="1" dirty="0">
                <a:latin typeface="Calibri"/>
                <a:ea typeface="+mn-lt"/>
                <a:cs typeface="+mn-lt"/>
              </a:rPr>
              <a:t>Top Performing Markets:</a:t>
            </a:r>
            <a:r>
              <a:rPr lang="en-US" dirty="0">
                <a:latin typeface="Calibri"/>
                <a:ea typeface="+mn-lt"/>
                <a:cs typeface="+mn-lt"/>
              </a:rPr>
              <a:t> Bengaluru, Hyderabad, and Mumbai are the leading revenue-generating cities.</a:t>
            </a:r>
          </a:p>
          <a:p>
            <a:r>
              <a:rPr lang="en-US" b="1" dirty="0">
                <a:latin typeface="Calibri"/>
                <a:ea typeface="+mn-lt"/>
                <a:cs typeface="+mn-lt"/>
              </a:rPr>
              <a:t>Problematic Products:</a:t>
            </a:r>
            <a:r>
              <a:rPr lang="en-US" dirty="0">
                <a:latin typeface="Calibri"/>
                <a:ea typeface="+mn-lt"/>
                <a:cs typeface="+mn-lt"/>
              </a:rPr>
              <a:t> Specific product styles, notably JNE3797, show disproportionately high failed orders, signaling product or fulfillment issues.</a:t>
            </a:r>
          </a:p>
          <a:p>
            <a:r>
              <a:rPr lang="en-US" b="1" dirty="0">
                <a:latin typeface="Calibri"/>
                <a:ea typeface="+mn-lt"/>
                <a:cs typeface="+mn-lt"/>
              </a:rPr>
              <a:t>Channel &amp; Category Dependence:</a:t>
            </a:r>
            <a:r>
              <a:rPr lang="en-US" dirty="0">
                <a:latin typeface="Calibri"/>
                <a:ea typeface="+mn-lt"/>
                <a:cs typeface="+mn-lt"/>
              </a:rPr>
              <a:t> Heavy reliance on Amazon.in and a few key categories highlights potential risk concentration.</a:t>
            </a:r>
          </a:p>
          <a:p>
            <a:pPr marL="0" indent="0">
              <a:buNone/>
            </a:pPr>
            <a:r>
              <a:rPr lang="en-US" dirty="0">
                <a:latin typeface="Calibri"/>
                <a:ea typeface="+mn-lt"/>
                <a:cs typeface="+mn-lt"/>
              </a:rPr>
              <a:t>Overall, the company exhibits strong growth potential but faces operational inefficiencies and revenue concentration risks that require strategic action.</a:t>
            </a:r>
            <a:endParaRPr lang="en-US">
              <a:latin typeface="Calibri"/>
              <a:ea typeface="Calibri"/>
              <a:cs typeface="Calibri"/>
            </a:endParaRPr>
          </a:p>
          <a:p>
            <a:endParaRPr lang="en-US" dirty="0">
              <a:latin typeface="Calibri"/>
              <a:ea typeface="Calibri"/>
              <a:cs typeface="Calibri"/>
            </a:endParaRPr>
          </a:p>
          <a:p>
            <a:endParaRPr lang="en-US" b="1" dirty="0">
              <a:solidFill>
                <a:srgbClr val="FFFFFF"/>
              </a:solidFill>
              <a:latin typeface="Walbaum Display"/>
              <a:ea typeface="+mn-lt"/>
              <a:cs typeface="+mn-lt"/>
            </a:endParaRPr>
          </a:p>
          <a:p>
            <a:endParaRPr lang="en-US" b="1" dirty="0"/>
          </a:p>
          <a:p>
            <a:endParaRPr lang="en-US" dirty="0"/>
          </a:p>
        </p:txBody>
      </p:sp>
    </p:spTree>
    <p:extLst>
      <p:ext uri="{BB962C8B-B14F-4D97-AF65-F5344CB8AC3E}">
        <p14:creationId xmlns:p14="http://schemas.microsoft.com/office/powerpoint/2010/main" val="4226231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0ABFC-97C8-F127-B83F-2BC223C821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748FC9-5817-3871-25FE-E5BB301DC2B5}"/>
              </a:ext>
            </a:extLst>
          </p:cNvPr>
          <p:cNvSpPr>
            <a:spLocks noGrp="1"/>
          </p:cNvSpPr>
          <p:nvPr>
            <p:ph type="title"/>
          </p:nvPr>
        </p:nvSpPr>
        <p:spPr>
          <a:xfrm>
            <a:off x="1143000" y="693641"/>
            <a:ext cx="9905999" cy="1024722"/>
          </a:xfrm>
        </p:spPr>
        <p:txBody>
          <a:bodyPr/>
          <a:lstStyle/>
          <a:p>
            <a:r>
              <a:rPr lang="en-US" dirty="0">
                <a:latin typeface="Calibri"/>
                <a:ea typeface="+mj-lt"/>
                <a:cs typeface="+mj-lt"/>
              </a:rPr>
              <a:t>Recommendation </a:t>
            </a:r>
            <a:endParaRPr lang="en-US" dirty="0">
              <a:latin typeface="Calibri"/>
            </a:endParaRPr>
          </a:p>
        </p:txBody>
      </p:sp>
      <p:sp>
        <p:nvSpPr>
          <p:cNvPr id="3" name="Content Placeholder 2">
            <a:extLst>
              <a:ext uri="{FF2B5EF4-FFF2-40B4-BE49-F238E27FC236}">
                <a16:creationId xmlns:a16="http://schemas.microsoft.com/office/drawing/2014/main" id="{B1346AA5-8A04-680E-3041-F3FC177B1210}"/>
              </a:ext>
            </a:extLst>
          </p:cNvPr>
          <p:cNvSpPr>
            <a:spLocks noGrp="1"/>
          </p:cNvSpPr>
          <p:nvPr>
            <p:ph idx="1"/>
          </p:nvPr>
        </p:nvSpPr>
        <p:spPr>
          <a:xfrm>
            <a:off x="1143000" y="1717654"/>
            <a:ext cx="9905999" cy="4293548"/>
          </a:xfrm>
        </p:spPr>
        <p:txBody>
          <a:bodyPr vert="horz" lIns="91440" tIns="45720" rIns="91440" bIns="45720" rtlCol="0" anchor="t">
            <a:normAutofit fontScale="92500" lnSpcReduction="20000"/>
          </a:bodyPr>
          <a:lstStyle/>
          <a:p>
            <a:pPr marL="457200" indent="-457200">
              <a:buAutoNum type="arabicPeriod"/>
            </a:pPr>
            <a:r>
              <a:rPr lang="en-US" b="1" dirty="0">
                <a:latin typeface="Calibri"/>
                <a:ea typeface="+mn-lt"/>
                <a:cs typeface="+mn-lt"/>
              </a:rPr>
              <a:t>Operational Improvements:</a:t>
            </a:r>
            <a:r>
              <a:rPr lang="en-US" dirty="0">
                <a:latin typeface="Calibri"/>
                <a:ea typeface="+mn-lt"/>
                <a:cs typeface="+mn-lt"/>
              </a:rPr>
              <a:t> Investigate high cancellation and return rates; enhance fulfillment accuracy and delivery reliability.</a:t>
            </a:r>
            <a:endParaRPr lang="en-US" dirty="0">
              <a:latin typeface="Calibri"/>
              <a:ea typeface="Calibri"/>
              <a:cs typeface="Calibri"/>
            </a:endParaRPr>
          </a:p>
          <a:p>
            <a:pPr marL="457200" indent="-457200">
              <a:buAutoNum type="arabicPeriod"/>
            </a:pPr>
            <a:r>
              <a:rPr lang="en-US" b="1" dirty="0">
                <a:latin typeface="Calibri"/>
                <a:ea typeface="+mn-lt"/>
                <a:cs typeface="+mn-lt"/>
              </a:rPr>
              <a:t>Product Focus:</a:t>
            </a:r>
            <a:r>
              <a:rPr lang="en-US" dirty="0">
                <a:latin typeface="Calibri"/>
                <a:ea typeface="+mn-lt"/>
                <a:cs typeface="+mn-lt"/>
              </a:rPr>
              <a:t> Review top problematic products (e.g., JNE3797) for quality, sizing, or listing improvements to reduce failures.</a:t>
            </a:r>
          </a:p>
          <a:p>
            <a:pPr marL="457200" indent="-457200">
              <a:buAutoNum type="arabicPeriod"/>
            </a:pPr>
            <a:r>
              <a:rPr lang="en-US" b="1" dirty="0">
                <a:latin typeface="Calibri"/>
                <a:ea typeface="+mn-lt"/>
                <a:cs typeface="+mn-lt"/>
              </a:rPr>
              <a:t>Channel Diversification:</a:t>
            </a:r>
            <a:r>
              <a:rPr lang="en-US" dirty="0">
                <a:latin typeface="Calibri"/>
                <a:ea typeface="+mn-lt"/>
                <a:cs typeface="+mn-lt"/>
              </a:rPr>
              <a:t> Strengthen non-Amazon sales channels to reduce dependency and mitigate risk.</a:t>
            </a:r>
          </a:p>
          <a:p>
            <a:pPr marL="457200" indent="-457200">
              <a:buAutoNum type="arabicPeriod"/>
            </a:pPr>
            <a:r>
              <a:rPr lang="en-US" b="1" dirty="0">
                <a:latin typeface="Calibri"/>
                <a:ea typeface="+mn-lt"/>
                <a:cs typeface="+mn-lt"/>
              </a:rPr>
              <a:t>Market Strategy:</a:t>
            </a:r>
            <a:r>
              <a:rPr lang="en-US" dirty="0">
                <a:latin typeface="Calibri"/>
                <a:ea typeface="+mn-lt"/>
                <a:cs typeface="+mn-lt"/>
              </a:rPr>
              <a:t> Prioritize marketing and inventory for high-performing cities (Bengaluru, Hyderabad, Mumbai) while exploring growth opportunities in underperforming cities.</a:t>
            </a:r>
          </a:p>
          <a:p>
            <a:pPr marL="457200" indent="-457200">
              <a:buAutoNum type="arabicPeriod"/>
            </a:pPr>
            <a:r>
              <a:rPr lang="en-US" b="1" dirty="0">
                <a:latin typeface="Calibri"/>
                <a:ea typeface="+mn-lt"/>
                <a:cs typeface="+mn-lt"/>
              </a:rPr>
              <a:t>Category Optimization:</a:t>
            </a:r>
            <a:r>
              <a:rPr lang="en-US" dirty="0">
                <a:latin typeface="Calibri"/>
                <a:ea typeface="+mn-lt"/>
                <a:cs typeface="+mn-lt"/>
              </a:rPr>
              <a:t> Focus on high-revenue categories (Sets, Kurtas, Western Dresses) while reassessing low-performing categories for promotion, repositioning, or discontinuation.</a:t>
            </a:r>
          </a:p>
          <a:p>
            <a:pPr marL="457200" indent="-457200">
              <a:buAutoNum type="arabicPeriod"/>
            </a:pPr>
            <a:r>
              <a:rPr lang="en-US" b="1" dirty="0">
                <a:latin typeface="Calibri"/>
                <a:ea typeface="+mn-lt"/>
                <a:cs typeface="+mn-lt"/>
              </a:rPr>
              <a:t>Data-Driven Monitoring:</a:t>
            </a:r>
            <a:r>
              <a:rPr lang="en-US" dirty="0">
                <a:latin typeface="Calibri"/>
                <a:ea typeface="+mn-lt"/>
                <a:cs typeface="+mn-lt"/>
              </a:rPr>
              <a:t> Implement continuous dashboard monitoring to track revenue trends, returns, cancellations, and top-performing products for proactive decision-making.</a:t>
            </a:r>
          </a:p>
          <a:p>
            <a:pPr marL="0" indent="0">
              <a:buNone/>
            </a:pPr>
            <a:endParaRPr lang="en-US" dirty="0">
              <a:latin typeface="Calibri"/>
              <a:ea typeface="Calibri"/>
              <a:cs typeface="Calibri"/>
            </a:endParaRPr>
          </a:p>
        </p:txBody>
      </p:sp>
    </p:spTree>
    <p:extLst>
      <p:ext uri="{BB962C8B-B14F-4D97-AF65-F5344CB8AC3E}">
        <p14:creationId xmlns:p14="http://schemas.microsoft.com/office/powerpoint/2010/main" val="75918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DEFB68-DE1A-94F3-C8C3-B900AF57CC85}"/>
              </a:ext>
            </a:extLst>
          </p:cNvPr>
          <p:cNvSpPr>
            <a:spLocks noGrp="1"/>
          </p:cNvSpPr>
          <p:nvPr>
            <p:ph type="title"/>
          </p:nvPr>
        </p:nvSpPr>
        <p:spPr>
          <a:xfrm>
            <a:off x="1628191" y="692702"/>
            <a:ext cx="8520952" cy="2190457"/>
          </a:xfrm>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Thank You </a:t>
            </a:r>
            <a:endParaRPr lang="en-NG"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Placeholder 6">
            <a:extLst>
              <a:ext uri="{FF2B5EF4-FFF2-40B4-BE49-F238E27FC236}">
                <a16:creationId xmlns:a16="http://schemas.microsoft.com/office/drawing/2014/main" id="{3854B4A8-8B9F-2884-8614-A26321212419}"/>
              </a:ext>
            </a:extLst>
          </p:cNvPr>
          <p:cNvSpPr>
            <a:spLocks noGrp="1"/>
          </p:cNvSpPr>
          <p:nvPr>
            <p:ph type="body" idx="1"/>
          </p:nvPr>
        </p:nvSpPr>
        <p:spPr>
          <a:xfrm>
            <a:off x="1628191" y="3909527"/>
            <a:ext cx="8520952" cy="1726162"/>
          </a:xfrm>
        </p:spPr>
        <p:txBody>
          <a:bodyPr>
            <a:normAutofit fontScale="92500" lnSpcReduction="20000"/>
          </a:bodyPr>
          <a:lstStyle/>
          <a:p>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err="1">
                <a:latin typeface="Calibri" panose="020F0502020204030204" pitchFamily="34" charset="0"/>
                <a:ea typeface="Calibri" panose="020F0502020204030204" pitchFamily="34" charset="0"/>
                <a:cs typeface="Calibri" panose="020F0502020204030204" pitchFamily="34" charset="0"/>
              </a:rPr>
              <a:t>Linkedin</a:t>
            </a:r>
            <a:r>
              <a:rPr lang="en-US" dirty="0">
                <a:latin typeface="Calibri" panose="020F0502020204030204" pitchFamily="34" charset="0"/>
                <a:ea typeface="Calibri" panose="020F0502020204030204" pitchFamily="34" charset="0"/>
                <a:cs typeface="Calibri" panose="020F0502020204030204" pitchFamily="34" charset="0"/>
              </a:rPr>
              <a:t>: https://www.linkedin.com/in/enwelum-chiamaka</a:t>
            </a:r>
            <a:br>
              <a:rPr lang="en-US" dirty="0">
                <a:latin typeface="Calibri" panose="020F0502020204030204" pitchFamily="34" charset="0"/>
                <a:ea typeface="Calibri" panose="020F0502020204030204" pitchFamily="34" charset="0"/>
                <a:cs typeface="Calibri" panose="020F0502020204030204" pitchFamily="34" charset="0"/>
              </a:rPr>
            </a:br>
            <a:r>
              <a:rPr lang="en-US" dirty="0" err="1">
                <a:latin typeface="Calibri" panose="020F0502020204030204" pitchFamily="34" charset="0"/>
                <a:ea typeface="Calibri" panose="020F0502020204030204" pitchFamily="34" charset="0"/>
                <a:cs typeface="Calibri" panose="020F0502020204030204" pitchFamily="34" charset="0"/>
              </a:rPr>
              <a:t>Github</a:t>
            </a:r>
            <a:r>
              <a:rPr lang="en-US" dirty="0">
                <a:latin typeface="Calibri" panose="020F0502020204030204" pitchFamily="34" charset="0"/>
                <a:ea typeface="Calibri" panose="020F0502020204030204" pitchFamily="34" charset="0"/>
                <a:cs typeface="Calibri" panose="020F0502020204030204" pitchFamily="34" charset="0"/>
              </a:rPr>
              <a:t>: https://github.com/amieecode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Email: enwelumchiamaka@gmail.com</a:t>
            </a:r>
            <a:endParaRPr lang="en-NG"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31266117"/>
      </p:ext>
    </p:extLst>
  </p:cSld>
  <p:clrMapOvr>
    <a:masterClrMapping/>
  </p:clrMapOvr>
</p:sld>
</file>

<file path=ppt/theme/theme1.xml><?xml version="1.0" encoding="utf-8"?>
<a:theme xmlns:a="http://schemas.openxmlformats.org/drawingml/2006/main" name="RegattaVTI">
  <a:themeElements>
    <a:clrScheme name="Regatta Yellow">
      <a:dk1>
        <a:sysClr val="windowText" lastClr="000000"/>
      </a:dk1>
      <a:lt1>
        <a:sysClr val="window" lastClr="FFFFFF"/>
      </a:lt1>
      <a:dk2>
        <a:srgbClr val="181C30"/>
      </a:dk2>
      <a:lt2>
        <a:srgbClr val="C8E1F4"/>
      </a:lt2>
      <a:accent1>
        <a:srgbClr val="217ED3"/>
      </a:accent1>
      <a:accent2>
        <a:srgbClr val="B92525"/>
      </a:accent2>
      <a:accent3>
        <a:srgbClr val="18558C"/>
      </a:accent3>
      <a:accent4>
        <a:srgbClr val="1D8B35"/>
      </a:accent4>
      <a:accent5>
        <a:srgbClr val="EA75AA"/>
      </a:accent5>
      <a:accent6>
        <a:srgbClr val="F5A700"/>
      </a:accent6>
      <a:hlink>
        <a:srgbClr val="DB0000"/>
      </a:hlink>
      <a:folHlink>
        <a:srgbClr val="066BB6"/>
      </a:folHlink>
    </a:clrScheme>
    <a:fontScheme name="Walbaum Display">
      <a:majorFont>
        <a:latin typeface="Walbaum Display"/>
        <a:ea typeface=""/>
        <a:cs typeface=""/>
      </a:majorFont>
      <a:minorFont>
        <a:latin typeface="Walbaum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gattaVTI" id="{FFC3BCE5-6357-41D1-8E67-3F85B69D7E86}" vid="{893A6374-FE17-48E5-8B62-678C1B11AA1B}"/>
    </a:ext>
  </a:extLst>
</a:theme>
</file>

<file path=docProps/app.xml><?xml version="1.0" encoding="utf-8"?>
<Properties xmlns="http://schemas.openxmlformats.org/officeDocument/2006/extended-properties" xmlns:vt="http://schemas.openxmlformats.org/officeDocument/2006/docPropsVTypes">
  <Template>office theme</Template>
  <TotalTime>3408</TotalTime>
  <Words>1273</Words>
  <Application>Microsoft Office PowerPoint</Application>
  <PresentationFormat>Widescreen</PresentationFormat>
  <Paragraphs>89</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Walbaum Display</vt:lpstr>
      <vt:lpstr>RegattaVTI</vt:lpstr>
      <vt:lpstr>E-Commerce &amp; Retail Store Analysis </vt:lpstr>
      <vt:lpstr>Welcome to a Data Driven Insight</vt:lpstr>
      <vt:lpstr>Company Background</vt:lpstr>
      <vt:lpstr>PowerPoint Presentation</vt:lpstr>
      <vt:lpstr>Problem Statement</vt:lpstr>
      <vt:lpstr>Challenges Faced</vt:lpstr>
      <vt:lpstr>PowerPoint Presentation</vt:lpstr>
      <vt:lpstr>Key Performance Indicators  </vt:lpstr>
      <vt:lpstr>KPI Explanation</vt:lpstr>
      <vt:lpstr>Delivery Performance </vt:lpstr>
      <vt:lpstr>Order Status </vt:lpstr>
      <vt:lpstr>Monthly Revenue Trend </vt:lpstr>
      <vt:lpstr>Weekly Revenue Trend </vt:lpstr>
      <vt:lpstr>Top Problematic Products </vt:lpstr>
      <vt:lpstr>Top Performing City by Revenue </vt:lpstr>
      <vt:lpstr>Revenue by Sales Channels  </vt:lpstr>
      <vt:lpstr>Revenue by Category</vt:lpstr>
      <vt:lpstr>Conclusion</vt:lpstr>
      <vt:lpstr>Recommendation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Enwelum Am</cp:lastModifiedBy>
  <cp:revision>792</cp:revision>
  <dcterms:created xsi:type="dcterms:W3CDTF">2013-07-15T20:26:40Z</dcterms:created>
  <dcterms:modified xsi:type="dcterms:W3CDTF">2026-02-19T11:09:36Z</dcterms:modified>
</cp:coreProperties>
</file>